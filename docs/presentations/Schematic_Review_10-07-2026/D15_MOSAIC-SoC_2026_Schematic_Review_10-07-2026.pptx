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5143500" cx="9144000"/>
  <p:notesSz cx="6858000" cy="9144000"/>
  <p:embeddedFontLst>
    <p:embeddedFont>
      <p:font typeface="Tahoma"/>
      <p:regular r:id="rId28"/>
      <p:bold r:id="rId29"/>
    </p:embeddedFont>
    <p:embeddedFont>
      <p:font typeface="JetBrains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jaACtzgJJhcwe03SZn5zzS6RDE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002FFE-7D39-495C-891D-9C742E15E1C9}">
  <a:tblStyle styleId="{1C002FFE-7D39-495C-891D-9C742E15E1C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8B9BC38D-3093-48FA-9D67-E6F0C5B9224D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DFD"/>
          </a:solidFill>
        </a:fill>
      </a:tcStyle>
    </a:wholeTbl>
    <a:band1H>
      <a:tcTxStyle b="off" i="off"/>
      <a:tcStyle>
        <a:fill>
          <a:solidFill>
            <a:srgbClr val="CDD8FB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8FB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Tahoma-regular.fntdata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Tahoma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JetBrainsMono-bold.fntdata"/><Relationship Id="rId30" Type="http://schemas.openxmlformats.org/officeDocument/2006/relationships/font" Target="fonts/JetBrainsMono-regular.fntdata"/><Relationship Id="rId11" Type="http://schemas.openxmlformats.org/officeDocument/2006/relationships/slide" Target="slides/slide4.xml"/><Relationship Id="rId33" Type="http://schemas.openxmlformats.org/officeDocument/2006/relationships/font" Target="fonts/JetBrainsMono-boldItalic.fntdata"/><Relationship Id="rId10" Type="http://schemas.openxmlformats.org/officeDocument/2006/relationships/slide" Target="slides/slide3.xml"/><Relationship Id="rId32" Type="http://schemas.openxmlformats.org/officeDocument/2006/relationships/font" Target="fonts/JetBrainsMono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customschemas.google.com/relationships/presentationmetadata" Target="meta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0a36728f9_2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f0a36728f9_2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3" name="Google Shape;33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1" name="Google Shape;38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2" name="Google Shape;42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2" name="Google Shape;47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8" name="Google Shape;488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1" name="Google Shape;50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8" name="Google Shape;54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6" name="Google Shape;576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3" name="Google Shape;60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5" name="Google Shape;645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6" name="Google Shape;65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7" name="Google Shape;657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8" name="Google Shape;69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9" name="Google Shape;699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4" name="Google Shape;74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5" name="Google Shape;745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7" name="Google Shape;76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8" name="Google Shape;768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f0a36728f9_2_1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3f0a36728f9_2_1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g3f0a36728f9_2_1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_OneColumnBullets">
  <p:cSld name="Content Slide_OneColumnBullets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f0a36728f9_2_75"/>
          <p:cNvSpPr txBox="1"/>
          <p:nvPr>
            <p:ph type="ctrTitle"/>
          </p:nvPr>
        </p:nvSpPr>
        <p:spPr>
          <a:xfrm>
            <a:off x="297611" y="424066"/>
            <a:ext cx="85311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600"/>
              <a:buFont typeface="Calibri"/>
              <a:buNone/>
              <a:defRPr b="1" i="0" sz="2600" u="none" cap="none" strike="noStrike">
                <a:solidFill>
                  <a:srgbClr val="0066A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g3f0a36728f9_2_75"/>
          <p:cNvSpPr txBox="1"/>
          <p:nvPr>
            <p:ph idx="1" type="body"/>
          </p:nvPr>
        </p:nvSpPr>
        <p:spPr>
          <a:xfrm>
            <a:off x="297611" y="978764"/>
            <a:ext cx="8531100" cy="3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2857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66A1"/>
              </a:buClr>
              <a:buSzPts val="900"/>
              <a:buFont typeface="Merriweather Sans"/>
              <a:buChar char="▶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66A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66A1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66A1"/>
              </a:buClr>
              <a:buSzPts val="1100"/>
              <a:buFont typeface="Noto Sans Symbols"/>
              <a:buChar char="▪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66A1"/>
              </a:buClr>
              <a:buSzPts val="1100"/>
              <a:buFont typeface="Noto Sans Symbols"/>
              <a:buChar char="▪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and Content">
  <p:cSld name="5_Title and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f0a36728f9_2_78"/>
          <p:cNvSpPr txBox="1"/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g3f0a36728f9_2_78"/>
          <p:cNvSpPr txBox="1"/>
          <p:nvPr>
            <p:ph idx="12" type="sldNum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g3f0a36728f9_2_78"/>
          <p:cNvSpPr txBox="1"/>
          <p:nvPr>
            <p:ph idx="1" type="body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0a36728f9_2_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g3f0a36728f9_2_8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g3f0a36728f9_2_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f0a36728f9_2_86"/>
          <p:cNvSpPr txBox="1"/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g3f0a36728f9_2_86"/>
          <p:cNvSpPr txBox="1"/>
          <p:nvPr>
            <p:ph idx="12" type="sldNum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g3f0a36728f9_2_86"/>
          <p:cNvSpPr txBox="1"/>
          <p:nvPr>
            <p:ph idx="1" type="body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Ref">
  <p:cSld name="Title and Content with Ref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f0a36728f9_2_90"/>
          <p:cNvSpPr txBox="1"/>
          <p:nvPr>
            <p:ph idx="1" type="body"/>
          </p:nvPr>
        </p:nvSpPr>
        <p:spPr>
          <a:xfrm>
            <a:off x="695416" y="4505492"/>
            <a:ext cx="6162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b="0" i="1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g3f0a36728f9_2_90"/>
          <p:cNvSpPr txBox="1"/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g3f0a36728f9_2_90"/>
          <p:cNvSpPr txBox="1"/>
          <p:nvPr>
            <p:ph idx="12" type="sldNum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g3f0a36728f9_2_90"/>
          <p:cNvSpPr txBox="1"/>
          <p:nvPr>
            <p:ph idx="2" type="body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f0a36728f9_2_95"/>
          <p:cNvSpPr txBox="1"/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g3f0a36728f9_2_95"/>
          <p:cNvSpPr txBox="1"/>
          <p:nvPr>
            <p:ph idx="12" type="sldNum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g3f0a36728f9_2_95"/>
          <p:cNvSpPr txBox="1"/>
          <p:nvPr>
            <p:ph idx="1" type="body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">
  <p:cSld name="3_Title and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f0a36728f9_2_99"/>
          <p:cNvSpPr txBox="1"/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g3f0a36728f9_2_99"/>
          <p:cNvSpPr txBox="1"/>
          <p:nvPr>
            <p:ph idx="12" type="sldNum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g3f0a36728f9_2_99"/>
          <p:cNvSpPr txBox="1"/>
          <p:nvPr>
            <p:ph idx="1" type="body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">
  <p:cSld name="4_Title and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f0a36728f9_2_103"/>
          <p:cNvSpPr txBox="1"/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g3f0a36728f9_2_103"/>
          <p:cNvSpPr txBox="1"/>
          <p:nvPr>
            <p:ph idx="12" type="sldNum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g3f0a36728f9_2_103"/>
          <p:cNvSpPr txBox="1"/>
          <p:nvPr>
            <p:ph idx="1" type="body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0a36728f9_2_107"/>
          <p:cNvSpPr txBox="1"/>
          <p:nvPr>
            <p:ph type="title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g3f0a36728f9_2_107"/>
          <p:cNvSpPr txBox="1"/>
          <p:nvPr/>
        </p:nvSpPr>
        <p:spPr>
          <a:xfrm>
            <a:off x="1371600" y="4800600"/>
            <a:ext cx="6400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Symposia on VLSI Technology and Circuits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3f0a36728f9_2_107"/>
          <p:cNvSpPr txBox="1"/>
          <p:nvPr>
            <p:ph idx="12" type="sldNum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0a36728f9_2_111"/>
          <p:cNvSpPr txBox="1"/>
          <p:nvPr>
            <p:ph type="title"/>
          </p:nvPr>
        </p:nvSpPr>
        <p:spPr>
          <a:xfrm>
            <a:off x="695417" y="137357"/>
            <a:ext cx="79611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g3f0a36728f9_2_111"/>
          <p:cNvSpPr txBox="1"/>
          <p:nvPr>
            <p:ph idx="12" type="sldNum"/>
          </p:nvPr>
        </p:nvSpPr>
        <p:spPr>
          <a:xfrm>
            <a:off x="3008" y="4811714"/>
            <a:ext cx="8460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g3f0a36728f9_2_111"/>
          <p:cNvSpPr txBox="1"/>
          <p:nvPr>
            <p:ph idx="1" type="body"/>
          </p:nvPr>
        </p:nvSpPr>
        <p:spPr>
          <a:xfrm>
            <a:off x="695324" y="775331"/>
            <a:ext cx="7961400" cy="3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0a36728f9_2_115"/>
          <p:cNvSpPr txBox="1"/>
          <p:nvPr>
            <p:ph type="title"/>
          </p:nvPr>
        </p:nvSpPr>
        <p:spPr>
          <a:xfrm>
            <a:off x="457200" y="57150"/>
            <a:ext cx="8229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g3f0a36728f9_2_115"/>
          <p:cNvSpPr txBox="1"/>
          <p:nvPr>
            <p:ph idx="1" type="body"/>
          </p:nvPr>
        </p:nvSpPr>
        <p:spPr>
          <a:xfrm>
            <a:off x="457200" y="800101"/>
            <a:ext cx="8229600" cy="41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7" name="Google Shape;57;g3f0a36728f9_2_1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825" y="4819600"/>
            <a:ext cx="2067676" cy="26522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g3f0a36728f9_2_1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9" name="Google Shape;59;g3f0a36728f9_2_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5750" y="4395100"/>
            <a:ext cx="1617024" cy="68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9" name="Google Shape;69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0" name="Google Shape;7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8" name="Google Shape;7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p27"/>
          <p:cNvSpPr txBox="1"/>
          <p:nvPr>
            <p:ph idx="2" type="body"/>
          </p:nvPr>
        </p:nvSpPr>
        <p:spPr>
          <a:xfrm>
            <a:off x="4832399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9" name="Google Shape;89;p2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0" name="Google Shape;9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3" name="Google Shape;9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1"/>
          <p:cNvSpPr txBox="1"/>
          <p:nvPr>
            <p:ph type="title"/>
          </p:nvPr>
        </p:nvSpPr>
        <p:spPr>
          <a:xfrm>
            <a:off x="265500" y="1233175"/>
            <a:ext cx="4045199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7" name="Google Shape;97;p31"/>
          <p:cNvSpPr txBox="1"/>
          <p:nvPr>
            <p:ph idx="1" type="subTitle"/>
          </p:nvPr>
        </p:nvSpPr>
        <p:spPr>
          <a:xfrm>
            <a:off x="265500" y="2803075"/>
            <a:ext cx="4045199" cy="12350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8" name="Google Shape;98;p3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9" name="Google Shape;9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2" name="Google Shape;10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5" name="Google Shape;105;p3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5.gif"/><Relationship Id="rId2" Type="http://schemas.openxmlformats.org/officeDocument/2006/relationships/image" Target="../media/image2.gif"/><Relationship Id="rId3" Type="http://schemas.openxmlformats.org/officeDocument/2006/relationships/image" Target="../media/image1.gif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0a36728f9_2_70"/>
          <p:cNvSpPr txBox="1"/>
          <p:nvPr/>
        </p:nvSpPr>
        <p:spPr>
          <a:xfrm>
            <a:off x="284909" y="4628375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200"/>
              <a:buFont typeface="Calibri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66A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0066A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7;g3f0a36728f9_2_7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53349" y="4553785"/>
            <a:ext cx="859278" cy="266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g3f0a36728f9_2_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65" y="1"/>
            <a:ext cx="9140333" cy="68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g3f0a36728f9_2_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4457701"/>
            <a:ext cx="9140333" cy="6855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MILOUDIAS" TargetMode="External"/><Relationship Id="rId4" Type="http://schemas.openxmlformats.org/officeDocument/2006/relationships/hyperlink" Target="https://github.com/trabdelbasset" TargetMode="External"/><Relationship Id="rId5" Type="http://schemas.openxmlformats.org/officeDocument/2006/relationships/hyperlink" Target="https://github.com/yacine-hk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0a36728f9_2_63"/>
          <p:cNvSpPr txBox="1"/>
          <p:nvPr>
            <p:ph type="ctrTitle"/>
          </p:nvPr>
        </p:nvSpPr>
        <p:spPr>
          <a:xfrm>
            <a:off x="311700" y="250987"/>
            <a:ext cx="8520600" cy="10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/>
              <a:t>D15 JustVibeAndTapeout</a:t>
            </a:r>
            <a:endParaRPr/>
          </a:p>
        </p:txBody>
      </p:sp>
      <p:sp>
        <p:nvSpPr>
          <p:cNvPr id="112" name="Google Shape;112;g3f0a36728f9_2_63"/>
          <p:cNvSpPr txBox="1"/>
          <p:nvPr>
            <p:ph idx="1" type="subTitle"/>
          </p:nvPr>
        </p:nvSpPr>
        <p:spPr>
          <a:xfrm>
            <a:off x="311700" y="1426137"/>
            <a:ext cx="8520600" cy="5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800">
                <a:solidFill>
                  <a:schemeClr val="dk1"/>
                </a:solidFill>
              </a:rPr>
              <a:t>MOSAIC-SOC: Agent-Driven, Reconfigurable Multi-Core SoC Generator using Open-Source EDA 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113" name="Google Shape;113;g3f0a36728f9_2_63"/>
          <p:cNvGraphicFramePr/>
          <p:nvPr/>
        </p:nvGraphicFramePr>
        <p:xfrm>
          <a:off x="849250" y="26587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{1C002FFE-7D39-495C-891D-9C742E15E1C9}</a:tableStyleId>
              </a:tblPr>
              <a:tblGrid>
                <a:gridCol w="1764075"/>
                <a:gridCol w="1764075"/>
                <a:gridCol w="1764075"/>
                <a:gridCol w="1764075"/>
              </a:tblGrid>
              <a:tr h="30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Discord name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Affiliation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Role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Experience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100" u="sng" cap="none" strike="noStrike">
                          <a:solidFill>
                            <a:schemeClr val="hlink"/>
                          </a:solidFill>
                          <a:hlinkClick r:id="rId3"/>
                        </a:rPr>
                        <a:t>@MILOUDIAS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Blida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University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Team lead/ Phase 1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PhD Student / Researcher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100" u="sng" cap="none" strike="noStrike">
                          <a:solidFill>
                            <a:schemeClr val="hlink"/>
                          </a:solidFill>
                          <a:hlinkClick r:id="rId4"/>
                        </a:rPr>
                        <a:t>@trabdelbasset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Blida University 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Team Member/ Phase 2</a:t>
                      </a:r>
                      <a:endParaRPr sz="10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PhD Student / Researcher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100" u="sng" cap="none" strike="noStrike">
                          <a:solidFill>
                            <a:schemeClr val="hlink"/>
                          </a:solidFill>
                          <a:hlinkClick r:id="rId5"/>
                        </a:rPr>
                        <a:t>@yacine-hk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 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Blida University 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Team Member/ Phase 1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PhD Student / Researcher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4" name="Google Shape;114;g3f0a36728f9_2_63"/>
          <p:cNvSpPr txBox="1"/>
          <p:nvPr/>
        </p:nvSpPr>
        <p:spPr>
          <a:xfrm>
            <a:off x="753100" y="2252475"/>
            <a:ext cx="381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Team members 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1. Project Information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7589520" y="320040"/>
            <a:ext cx="960120" cy="29260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F4F7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502920" y="1143000"/>
            <a:ext cx="5212080" cy="3520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713232" y="1344168"/>
            <a:ext cx="786384" cy="292608"/>
          </a:xfrm>
          <a:prstGeom prst="roundRect">
            <a:avLst>
              <a:gd fmla="val 16667" name="adj"/>
            </a:avLst>
          </a:prstGeom>
          <a:solidFill>
            <a:srgbClr val="4285F4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713232" y="1344168"/>
            <a:ext cx="7863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TRACK 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713232" y="1719072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MOSAIC-SoC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713232" y="2157984"/>
            <a:ext cx="45720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MOSAIC-SoC extends X-HEEP into a configuration-driven heterogeneous RISC-V SoC. One validated mosaic.yaml selects the core mix and generates the OBI fabric, logical memory map, peripherals, and downstream flow inputs.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731520" y="295351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Latest repository additions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731520" y="3227832"/>
            <a:ext cx="859536" cy="292608"/>
          </a:xfrm>
          <a:prstGeom prst="roundRect">
            <a:avLst>
              <a:gd fmla="val 16667" name="adj"/>
            </a:avLst>
          </a:prstGeom>
          <a:solidFill>
            <a:srgbClr val="0097A7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731520" y="3227832"/>
            <a:ext cx="8595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1719072" y="3236975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oh-my-soc CLI plus four deterministic skills.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731520" y="3666744"/>
            <a:ext cx="859536" cy="292608"/>
          </a:xfrm>
          <a:prstGeom prst="roundRect">
            <a:avLst>
              <a:gd fmla="val 16667" name="adj"/>
            </a:avLst>
          </a:prstGeom>
          <a:solidFill>
            <a:srgbClr val="4285F4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731520" y="3666744"/>
            <a:ext cx="8595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FIRMWARE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1719072" y="3675887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Bare-metal TDU control, worker programs, and three scheduling modes.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731520" y="4105656"/>
            <a:ext cx="859536" cy="292608"/>
          </a:xfrm>
          <a:prstGeom prst="roundRect">
            <a:avLst>
              <a:gd fmla="val 16667" name="adj"/>
            </a:avLst>
          </a:prstGeom>
          <a:solidFill>
            <a:srgbClr val="FFAB40"/>
          </a:solidFill>
          <a:ln cap="flat" cmpd="sng" w="12700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731520" y="4105656"/>
            <a:ext cx="8595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1719072" y="4114800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GF180 OpenRAM/LibreLane scaffolding; characterized SRAM macros remain open.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 txBox="1"/>
          <p:nvPr/>
        </p:nvSpPr>
        <p:spPr>
          <a:xfrm>
            <a:off x="731520" y="4489704"/>
            <a:ext cx="45720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Review baseline · HEAD d5cae92 · 2 July 2026 · DASHBOARD claims cross-checked against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5943600" y="1143000"/>
            <a:ext cx="2697480" cy="1627632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6108192" y="1271016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6172200" y="1581912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@MILOUDIAS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7543800" y="1581912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Lead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"/>
          <p:cNvSpPr txBox="1"/>
          <p:nvPr/>
        </p:nvSpPr>
        <p:spPr>
          <a:xfrm>
            <a:off x="6172200" y="1947671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@trabdelbasset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"/>
          <p:cNvSpPr txBox="1"/>
          <p:nvPr/>
        </p:nvSpPr>
        <p:spPr>
          <a:xfrm>
            <a:off x="7543800" y="1947671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Member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"/>
          <p:cNvSpPr txBox="1"/>
          <p:nvPr/>
        </p:nvSpPr>
        <p:spPr>
          <a:xfrm>
            <a:off x="6172200" y="2313432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@yacine-hk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"/>
          <p:cNvSpPr txBox="1"/>
          <p:nvPr/>
        </p:nvSpPr>
        <p:spPr>
          <a:xfrm>
            <a:off x="7543800" y="2313432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Member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"/>
          <p:cNvSpPr/>
          <p:nvPr/>
        </p:nvSpPr>
        <p:spPr>
          <a:xfrm>
            <a:off x="5943600" y="2971800"/>
            <a:ext cx="269748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"/>
          <p:cNvSpPr txBox="1"/>
          <p:nvPr/>
        </p:nvSpPr>
        <p:spPr>
          <a:xfrm>
            <a:off x="6108192" y="3099816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Current PoC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"/>
          <p:cNvSpPr txBox="1"/>
          <p:nvPr/>
        </p:nvSpPr>
        <p:spPr>
          <a:xfrm>
            <a:off x="6172200" y="3328416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1× TITAN · 2× ATLAS · 4× NANO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"/>
          <p:cNvSpPr/>
          <p:nvPr/>
        </p:nvSpPr>
        <p:spPr>
          <a:xfrm>
            <a:off x="6153912" y="3566160"/>
            <a:ext cx="658368" cy="74980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6263640" y="3639312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6263640" y="3968496"/>
            <a:ext cx="4389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harts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6903720" y="3566160"/>
            <a:ext cx="786384" cy="74980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7013448" y="3639312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32 KB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7013448" y="3968496"/>
            <a:ext cx="5669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logical SRAM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7799831" y="3566160"/>
            <a:ext cx="658368" cy="74980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7909559" y="3639312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7909559" y="3968496"/>
            <a:ext cx="4389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MHz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"/>
          <p:cNvSpPr txBox="1"/>
          <p:nvPr/>
        </p:nvSpPr>
        <p:spPr>
          <a:xfrm>
            <a:off x="6172200" y="437083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50 MHz review target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TDU · iDMA · generated OBI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" name="Google Shape;160;p2"/>
          <p:cNvCxnSpPr/>
          <p:nvPr/>
        </p:nvCxnSpPr>
        <p:spPr>
          <a:xfrm>
            <a:off x="502920" y="4910328"/>
            <a:ext cx="8138160" cy="0"/>
          </a:xfrm>
          <a:prstGeom prst="straightConnector1">
            <a:avLst/>
          </a:prstGeom>
          <a:noFill/>
          <a:ln cap="flat" cmpd="sng" w="15225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1" name="Google Shape;161;p2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D15 · MOSAIC-SoC · Chipathon 2026 Schematic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"/>
          <p:cNvSpPr txBox="1"/>
          <p:nvPr/>
        </p:nvSpPr>
        <p:spPr>
          <a:xfrm>
            <a:off x="8046720" y="4919471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2. Phase Plan &amp; Progress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7589520" y="320040"/>
            <a:ext cx="960120" cy="29260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F4F7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502920" y="1152144"/>
            <a:ext cx="4041648" cy="22128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667512" y="1280160"/>
            <a:ext cx="841248" cy="292608"/>
          </a:xfrm>
          <a:prstGeom prst="roundRect">
            <a:avLst>
              <a:gd fmla="val 16667" name="adj"/>
            </a:avLst>
          </a:prstGeom>
          <a:solidFill>
            <a:srgbClr val="4285F4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"/>
          <p:cNvSpPr txBox="1"/>
          <p:nvPr/>
        </p:nvSpPr>
        <p:spPr>
          <a:xfrm>
            <a:off x="667512" y="1280160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2971800" y="1280160"/>
            <a:ext cx="1408176" cy="292608"/>
          </a:xfrm>
          <a:prstGeom prst="roundRect">
            <a:avLst>
              <a:gd fmla="val 16667" name="adj"/>
            </a:avLst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"/>
          <p:cNvSpPr txBox="1"/>
          <p:nvPr/>
        </p:nvSpPr>
        <p:spPr>
          <a:xfrm>
            <a:off x="2971800" y="1280160"/>
            <a:ext cx="14081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95% · WORKING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667512" y="1627632"/>
            <a:ext cx="3712463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Config-driven multi-core generator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 txBox="1"/>
          <p:nvPr/>
        </p:nvSpPr>
        <p:spPr>
          <a:xfrm>
            <a:off x="667512" y="1865376"/>
            <a:ext cx="3712463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Goal: one validated mosaic.yaml selects cores, memory, bus fabric, scheduler, and peripherals, and generates the heterogeneous SoC from X-HEEP (PoC: 1× TITAN + 2× ATLAS + 4× NANO).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"/>
          <p:cNvSpPr txBox="1"/>
          <p:nvPr/>
        </p:nvSpPr>
        <p:spPr>
          <a:xfrm>
            <a:off x="667512" y="2468880"/>
            <a:ext cx="3712463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• SCI wrappers for all 5 core IPs (cv32e20, Ibex, FazyRV, QERV, SERV).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• TDU + iDMA integrated; 4 testbench suites PASS; 14 bugs fixed.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• Full-SoC lint-clean (837 modules); 3-core wake demo EXIT SUCCESS.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4690872" y="1152144"/>
            <a:ext cx="4041648" cy="22128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4855464" y="1280160"/>
            <a:ext cx="841248" cy="292608"/>
          </a:xfrm>
          <a:prstGeom prst="roundRect">
            <a:avLst>
              <a:gd fmla="val 16667" name="adj"/>
            </a:avLst>
          </a:prstGeom>
          <a:solidFill>
            <a:srgbClr val="0097A7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"/>
          <p:cNvSpPr txBox="1"/>
          <p:nvPr/>
        </p:nvSpPr>
        <p:spPr>
          <a:xfrm>
            <a:off x="4855464" y="1280160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"/>
          <p:cNvSpPr/>
          <p:nvPr/>
        </p:nvSpPr>
        <p:spPr>
          <a:xfrm>
            <a:off x="7159752" y="1280160"/>
            <a:ext cx="1408176" cy="292608"/>
          </a:xfrm>
          <a:prstGeom prst="roundRect">
            <a:avLst>
              <a:gd fmla="val 16667" name="adj"/>
            </a:avLst>
          </a:prstGeom>
          <a:solidFill>
            <a:srgbClr val="B26A00"/>
          </a:solidFill>
          <a:ln cap="flat" cmpd="sng" w="12700">
            <a:solidFill>
              <a:srgbClr val="B26A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7159752" y="1280160"/>
            <a:ext cx="14081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85% · IMPLEMENTED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"/>
          <p:cNvSpPr txBox="1"/>
          <p:nvPr/>
        </p:nvSpPr>
        <p:spPr>
          <a:xfrm>
            <a:off x="4855464" y="1627632"/>
            <a:ext cx="3712463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Agentic harness — oh-my-soc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"/>
          <p:cNvSpPr txBox="1"/>
          <p:nvPr/>
        </p:nvSpPr>
        <p:spPr>
          <a:xfrm>
            <a:off x="4855464" y="1865376"/>
            <a:ext cx="3712463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Goal: an agentic harness (based on oh-my-pi) that automates config authoring, EDA flow running, DRC triage, and documentation. Deterministic skills check the agent; it never replaces signoff.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"/>
          <p:cNvSpPr txBox="1"/>
          <p:nvPr/>
        </p:nvSpPr>
        <p:spPr>
          <a:xfrm>
            <a:off x="4855464" y="2468880"/>
            <a:ext cx="3712463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• 4 skills + CLI: config-author (3 presets), flow-runner (11 flows), drc-triage (3 report parsers), doc-gen.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• Structured SkillResult JSON; manual make/CLI fallback preserved.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• Open: harness regression suite and flow-runner path handling.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502920" y="3493008"/>
            <a:ext cx="8229600" cy="128016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/>
          <p:cNvSpPr txBox="1"/>
          <p:nvPr/>
        </p:nvSpPr>
        <p:spPr>
          <a:xfrm>
            <a:off x="667512" y="3602735"/>
            <a:ext cx="416051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DASHBOARD.md · Executive summary — 1 July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"/>
          <p:cNvSpPr txBox="1"/>
          <p:nvPr/>
        </p:nvSpPr>
        <p:spPr>
          <a:xfrm>
            <a:off x="4846320" y="3566160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Milestones: M1–M9 DONE (Jun 27–30) · M10 pin-binding + SRAM IN PROGRESS · M11–M12 signoff / GDSII PLANNED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"/>
          <p:cNvSpPr txBox="1"/>
          <p:nvPr/>
        </p:nvSpPr>
        <p:spPr>
          <a:xfrm>
            <a:off x="667512" y="3913632"/>
            <a:ext cx="2606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Phase 1 · Multi-core generator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"/>
          <p:cNvSpPr/>
          <p:nvPr/>
        </p:nvSpPr>
        <p:spPr>
          <a:xfrm>
            <a:off x="3310127" y="3931920"/>
            <a:ext cx="4224528" cy="137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"/>
          <p:cNvSpPr/>
          <p:nvPr/>
        </p:nvSpPr>
        <p:spPr>
          <a:xfrm>
            <a:off x="3310127" y="3931920"/>
            <a:ext cx="4013301" cy="137160"/>
          </a:xfrm>
          <a:prstGeom prst="roundRect">
            <a:avLst>
              <a:gd fmla="val 16667" name="adj"/>
            </a:avLst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"/>
          <p:cNvSpPr txBox="1"/>
          <p:nvPr/>
        </p:nvSpPr>
        <p:spPr>
          <a:xfrm>
            <a:off x="7626096" y="391363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67512" y="4119372"/>
            <a:ext cx="2606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Phase 2 · Agentic harness (oh-my-soc)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"/>
          <p:cNvSpPr/>
          <p:nvPr/>
        </p:nvSpPr>
        <p:spPr>
          <a:xfrm>
            <a:off x="3310127" y="4137659"/>
            <a:ext cx="4224528" cy="137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"/>
          <p:cNvSpPr/>
          <p:nvPr/>
        </p:nvSpPr>
        <p:spPr>
          <a:xfrm>
            <a:off x="3310127" y="4137659"/>
            <a:ext cx="3590848" cy="137160"/>
          </a:xfrm>
          <a:prstGeom prst="roundRect">
            <a:avLst>
              <a:gd fmla="val 16667" name="adj"/>
            </a:avLst>
          </a:prstGeom>
          <a:solidFill>
            <a:srgbClr val="0097A7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"/>
          <p:cNvSpPr txBox="1"/>
          <p:nvPr/>
        </p:nvSpPr>
        <p:spPr>
          <a:xfrm>
            <a:off x="7626096" y="411937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85%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"/>
          <p:cNvSpPr txBox="1"/>
          <p:nvPr/>
        </p:nvSpPr>
        <p:spPr>
          <a:xfrm>
            <a:off x="667512" y="4325112"/>
            <a:ext cx="2606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Phase 3 · Physical design (GF180MCU)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"/>
          <p:cNvSpPr/>
          <p:nvPr/>
        </p:nvSpPr>
        <p:spPr>
          <a:xfrm>
            <a:off x="3310127" y="4343400"/>
            <a:ext cx="4224528" cy="137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3310127" y="4343400"/>
            <a:ext cx="1267358" cy="137160"/>
          </a:xfrm>
          <a:prstGeom prst="roundRect">
            <a:avLst>
              <a:gd fmla="val 16667" name="adj"/>
            </a:avLst>
          </a:prstGeom>
          <a:solidFill>
            <a:srgbClr val="B26A00"/>
          </a:solidFill>
          <a:ln cap="flat" cmpd="sng" w="12700">
            <a:solidFill>
              <a:srgbClr val="B26A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"/>
          <p:cNvSpPr txBox="1"/>
          <p:nvPr/>
        </p:nvSpPr>
        <p:spPr>
          <a:xfrm>
            <a:off x="7626096" y="432511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B26A00"/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"/>
          <p:cNvSpPr txBox="1"/>
          <p:nvPr/>
        </p:nvSpPr>
        <p:spPr>
          <a:xfrm>
            <a:off x="667512" y="4530852"/>
            <a:ext cx="2606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Overall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"/>
          <p:cNvSpPr/>
          <p:nvPr/>
        </p:nvSpPr>
        <p:spPr>
          <a:xfrm>
            <a:off x="3310127" y="4549140"/>
            <a:ext cx="4224528" cy="137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"/>
          <p:cNvSpPr/>
          <p:nvPr/>
        </p:nvSpPr>
        <p:spPr>
          <a:xfrm>
            <a:off x="3310127" y="4549140"/>
            <a:ext cx="3295131" cy="137160"/>
          </a:xfrm>
          <a:prstGeom prst="roundRect">
            <a:avLst>
              <a:gd fmla="val 16667" name="adj"/>
            </a:avLst>
          </a:prstGeom>
          <a:solidFill>
            <a:srgbClr val="4285F4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"/>
          <p:cNvSpPr txBox="1"/>
          <p:nvPr/>
        </p:nvSpPr>
        <p:spPr>
          <a:xfrm>
            <a:off x="7626096" y="45308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78%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p3"/>
          <p:cNvCxnSpPr/>
          <p:nvPr/>
        </p:nvCxnSpPr>
        <p:spPr>
          <a:xfrm>
            <a:off x="502920" y="4910328"/>
            <a:ext cx="8138160" cy="0"/>
          </a:xfrm>
          <a:prstGeom prst="straightConnector1">
            <a:avLst/>
          </a:prstGeom>
          <a:noFill/>
          <a:ln cap="flat" cmpd="sng" w="15225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7" name="Google Shape;207;p3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D15 · MOSAIC-SoC · Chipathon 2026 Schematic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"/>
          <p:cNvSpPr txBox="1"/>
          <p:nvPr/>
        </p:nvSpPr>
        <p:spPr>
          <a:xfrm>
            <a:off x="8046720" y="4919471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3. Tapeout Plan &amp; Long-Term Goal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"/>
          <p:cNvSpPr txBox="1"/>
          <p:nvPr/>
        </p:nvSpPr>
        <p:spPr>
          <a:xfrm>
            <a:off x="585216" y="749808"/>
            <a:ext cx="79552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The PoC exercises the flow end-to-end; the 2026 die is a minimal configuration sized to the area budget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7589520" y="320040"/>
            <a:ext cx="960120" cy="29260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F4F7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502920" y="1152144"/>
            <a:ext cx="4041648" cy="22128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667512" y="1280160"/>
            <a:ext cx="1188720" cy="292608"/>
          </a:xfrm>
          <a:prstGeom prst="roundRect">
            <a:avLst>
              <a:gd fmla="val 16667" name="adj"/>
            </a:avLst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"/>
          <p:cNvSpPr txBox="1"/>
          <p:nvPr/>
        </p:nvSpPr>
        <p:spPr>
          <a:xfrm>
            <a:off x="667512" y="128016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 TAPEOUT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4"/>
          <p:cNvSpPr txBox="1"/>
          <p:nvPr/>
        </p:nvSpPr>
        <p:spPr>
          <a:xfrm>
            <a:off x="667512" y="1645920"/>
            <a:ext cx="3712463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Minimal die: 1× FazyRV + 2× SERV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"/>
          <p:cNvSpPr txBox="1"/>
          <p:nvPr/>
        </p:nvSpPr>
        <p:spPr>
          <a:xfrm>
            <a:off x="667512" y="1938528"/>
            <a:ext cx="3713182" cy="1240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• 3 harts : FazyRV-CHUNK8 as the boot/orchestrator hart; 2× SERV workers woken through the TDU.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• No on-chip SRAM macros: external memory only, to meet the GF180 area constraints.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• Tiny logic: FazyRV ≈2–5 kGE, SERV ≈0.2–3 kGE per core (vs cv32e20 ≈14–17 kGE plus SRAM macros).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• Generated by the same mosaic.yaml flow; the tapeout config variant is to be frozen at this review.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4690872" y="1152144"/>
            <a:ext cx="4041648" cy="22128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4855464" y="1280160"/>
            <a:ext cx="1188720" cy="292608"/>
          </a:xfrm>
          <a:prstGeom prst="roundRect">
            <a:avLst>
              <a:gd fmla="val 16667" name="adj"/>
            </a:avLst>
          </a:prstGeom>
          <a:solidFill>
            <a:srgbClr val="4285F4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"/>
          <p:cNvSpPr txBox="1"/>
          <p:nvPr/>
        </p:nvSpPr>
        <p:spPr>
          <a:xfrm>
            <a:off x="4855464" y="128016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CURRENT PoC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"/>
          <p:cNvSpPr txBox="1"/>
          <p:nvPr/>
        </p:nvSpPr>
        <p:spPr>
          <a:xfrm>
            <a:off x="4855464" y="1645920"/>
            <a:ext cx="3712463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Flow validation — not the 2026 die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"/>
          <p:cNvSpPr txBox="1"/>
          <p:nvPr/>
        </p:nvSpPr>
        <p:spPr>
          <a:xfrm>
            <a:off x="4855464" y="1938528"/>
            <a:ext cx="3712463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• The 7-hart PoC (1× cv32e20 + 2× FazyRV + 4× SERV, 32 KB SRAM) exists to test the flow itself: generator → firmware → TDU → verification.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• It stays the simulation regression vehicle and is not intended for the Chipathon 2026 tapeout.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• On-chip SRAM physicalization (OpenRAM) moves off the 2026 critical path and remains open for future runs.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502920" y="3493008"/>
            <a:ext cx="8229600" cy="128016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667512" y="3621024"/>
            <a:ext cx="1463040" cy="292608"/>
          </a:xfrm>
          <a:prstGeom prst="roundRect">
            <a:avLst>
              <a:gd fmla="val 16667" name="adj"/>
            </a:avLst>
          </a:prstGeom>
          <a:solidFill>
            <a:srgbClr val="0097A7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"/>
          <p:cNvSpPr txBox="1"/>
          <p:nvPr/>
        </p:nvSpPr>
        <p:spPr>
          <a:xfrm>
            <a:off x="667512" y="3621024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LONG-TERM GOAL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"/>
          <p:cNvSpPr txBox="1"/>
          <p:nvPr/>
        </p:nvSpPr>
        <p:spPr>
          <a:xfrm>
            <a:off x="2286000" y="3621024"/>
            <a:ext cx="6217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Grow MOSAIC into a broad IP catalog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"/>
          <p:cNvSpPr txBox="1"/>
          <p:nvPr/>
        </p:nvSpPr>
        <p:spPr>
          <a:xfrm>
            <a:off x="667512" y="4023360"/>
            <a:ext cx="7900416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Integrate as many core and peripheral IPs as possible behind the SCI/OBI contract — adding a core is one SCI wrapper, one .core descriptor, and one template branch. Today: 5 core IPs (cv32e20, Ibex, FazyRV, QERV, SERV) and 4 peripherals (UART, GPIO, timer, SPI). The generator sizes the OBI fabric and memory map automatically as the catalog grows, so future dies scale up as area allows.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" name="Google Shape;233;p4"/>
          <p:cNvCxnSpPr/>
          <p:nvPr/>
        </p:nvCxnSpPr>
        <p:spPr>
          <a:xfrm>
            <a:off x="502920" y="4910328"/>
            <a:ext cx="8138160" cy="0"/>
          </a:xfrm>
          <a:prstGeom prst="straightConnector1">
            <a:avLst/>
          </a:prstGeom>
          <a:noFill/>
          <a:ln cap="flat" cmpd="sng" w="15225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4" name="Google Shape;234;p4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D15 · MOSAIC-SoC · Chipathon 2026 Schematic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"/>
          <p:cNvSpPr txBox="1"/>
          <p:nvPr/>
        </p:nvSpPr>
        <p:spPr>
          <a:xfrm>
            <a:off x="8046720" y="4919471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4. Design Objectives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7589520" y="320040"/>
            <a:ext cx="960120" cy="29260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F4F7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5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502920" y="1234440"/>
            <a:ext cx="265176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667512" y="1399032"/>
            <a:ext cx="438912" cy="292608"/>
          </a:xfrm>
          <a:prstGeom prst="roundRect">
            <a:avLst>
              <a:gd fmla="val 16667" name="adj"/>
            </a:avLst>
          </a:prstGeom>
          <a:solidFill>
            <a:srgbClr val="4285F4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"/>
          <p:cNvSpPr txBox="1"/>
          <p:nvPr/>
        </p:nvSpPr>
        <p:spPr>
          <a:xfrm>
            <a:off x="667512" y="1399032"/>
            <a:ext cx="4389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5"/>
          <p:cNvSpPr txBox="1"/>
          <p:nvPr/>
        </p:nvSpPr>
        <p:spPr>
          <a:xfrm>
            <a:off x="1216150" y="1389900"/>
            <a:ext cx="1827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Configuration-driven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5"/>
          <p:cNvSpPr txBox="1"/>
          <p:nvPr/>
        </p:nvSpPr>
        <p:spPr>
          <a:xfrm>
            <a:off x="667512" y="1801367"/>
            <a:ext cx="2322576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Generate topology, memory map, firmware assumptions, and flow inputs from one validated YAML.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3355848" y="1234440"/>
            <a:ext cx="265176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3520440" y="1399032"/>
            <a:ext cx="438912" cy="292608"/>
          </a:xfrm>
          <a:prstGeom prst="roundRect">
            <a:avLst>
              <a:gd fmla="val 16667" name="adj"/>
            </a:avLst>
          </a:prstGeom>
          <a:solidFill>
            <a:srgbClr val="0097A7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"/>
          <p:cNvSpPr txBox="1"/>
          <p:nvPr/>
        </p:nvSpPr>
        <p:spPr>
          <a:xfrm>
            <a:off x="3520440" y="1399032"/>
            <a:ext cx="4389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5"/>
          <p:cNvSpPr txBox="1"/>
          <p:nvPr/>
        </p:nvSpPr>
        <p:spPr>
          <a:xfrm>
            <a:off x="4069080" y="138988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Heterogeneous execution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5"/>
          <p:cNvSpPr txBox="1"/>
          <p:nvPr/>
        </p:nvSpPr>
        <p:spPr>
          <a:xfrm>
            <a:off x="3520440" y="1801367"/>
            <a:ext cx="2322576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TITAN dispatches work; ATLAS and NANO workers start dormant and wake through the TDU.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6208776" y="1234440"/>
            <a:ext cx="265176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6373368" y="1399032"/>
            <a:ext cx="438912" cy="292608"/>
          </a:xfrm>
          <a:prstGeom prst="roundRect">
            <a:avLst>
              <a:gd fmla="val 16667" name="adj"/>
            </a:avLst>
          </a:prstGeom>
          <a:solidFill>
            <a:srgbClr val="FFAB40"/>
          </a:solidFill>
          <a:ln cap="flat" cmpd="sng" w="12700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5"/>
          <p:cNvSpPr txBox="1"/>
          <p:nvPr/>
        </p:nvSpPr>
        <p:spPr>
          <a:xfrm>
            <a:off x="6373368" y="1399032"/>
            <a:ext cx="4389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5"/>
          <p:cNvSpPr txBox="1"/>
          <p:nvPr/>
        </p:nvSpPr>
        <p:spPr>
          <a:xfrm>
            <a:off x="6922008" y="138988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Firmware control plane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5"/>
          <p:cNvSpPr txBox="1"/>
          <p:nvPr/>
        </p:nvSpPr>
        <p:spPr>
          <a:xfrm>
            <a:off x="6373368" y="1801367"/>
            <a:ext cx="2322576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Provide an RV32I TDU driver, per-tier worker code, and static/dynamic/power-aware scheduling demos.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502920" y="2880360"/>
            <a:ext cx="265176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667512" y="3044952"/>
            <a:ext cx="438912" cy="292608"/>
          </a:xfrm>
          <a:prstGeom prst="roundRect">
            <a:avLst>
              <a:gd fmla="val 16667" name="adj"/>
            </a:avLst>
          </a:prstGeom>
          <a:solidFill>
            <a:srgbClr val="78909C"/>
          </a:solidFill>
          <a:ln cap="flat" cmpd="sng" w="12700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5"/>
          <p:cNvSpPr txBox="1"/>
          <p:nvPr/>
        </p:nvSpPr>
        <p:spPr>
          <a:xfrm>
            <a:off x="667512" y="3044952"/>
            <a:ext cx="4389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5"/>
          <p:cNvSpPr txBox="1"/>
          <p:nvPr/>
        </p:nvSpPr>
        <p:spPr>
          <a:xfrm>
            <a:off x="1216151" y="303580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Deterministic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5"/>
          <p:cNvSpPr txBox="1"/>
          <p:nvPr/>
        </p:nvSpPr>
        <p:spPr>
          <a:xfrm>
            <a:off x="667512" y="3447288"/>
            <a:ext cx="2322576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Route agent actions through validated skills that return structured results and preserve manual fallback.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3355848" y="2880360"/>
            <a:ext cx="265176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5"/>
          <p:cNvSpPr/>
          <p:nvPr/>
        </p:nvSpPr>
        <p:spPr>
          <a:xfrm>
            <a:off x="3520440" y="3044952"/>
            <a:ext cx="438912" cy="292608"/>
          </a:xfrm>
          <a:prstGeom prst="roundRect">
            <a:avLst>
              <a:gd fmla="val 16667" name="adj"/>
            </a:avLst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5"/>
          <p:cNvSpPr txBox="1"/>
          <p:nvPr/>
        </p:nvSpPr>
        <p:spPr>
          <a:xfrm>
            <a:off x="3520440" y="3044952"/>
            <a:ext cx="4389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5"/>
          <p:cNvSpPr txBox="1"/>
          <p:nvPr/>
        </p:nvSpPr>
        <p:spPr>
          <a:xfrm>
            <a:off x="4069080" y="303580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Physicalized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5"/>
          <p:cNvSpPr txBox="1"/>
          <p:nvPr/>
        </p:nvSpPr>
        <p:spPr>
          <a:xfrm>
            <a:off x="3520440" y="3447288"/>
            <a:ext cx="2322576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Replace generic SRAM with characterized GF180 macros and explicit LibreLane placement/PDN integration.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6208776" y="2880360"/>
            <a:ext cx="265176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5"/>
          <p:cNvSpPr/>
          <p:nvPr/>
        </p:nvSpPr>
        <p:spPr>
          <a:xfrm>
            <a:off x="6373368" y="3044952"/>
            <a:ext cx="438912" cy="292608"/>
          </a:xfrm>
          <a:prstGeom prst="roundRect">
            <a:avLst>
              <a:gd fmla="val 16667" name="adj"/>
            </a:avLst>
          </a:prstGeom>
          <a:solidFill>
            <a:srgbClr val="4285F4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5"/>
          <p:cNvSpPr txBox="1"/>
          <p:nvPr/>
        </p:nvSpPr>
        <p:spPr>
          <a:xfrm>
            <a:off x="6373368" y="3044952"/>
            <a:ext cx="4389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5"/>
          <p:cNvSpPr txBox="1"/>
          <p:nvPr/>
        </p:nvSpPr>
        <p:spPr>
          <a:xfrm>
            <a:off x="6922008" y="303580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Evidence-gated tapeout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5"/>
          <p:cNvSpPr txBox="1"/>
          <p:nvPr/>
        </p:nvSpPr>
        <p:spPr>
          <a:xfrm>
            <a:off x="6373368" y="3447288"/>
            <a:ext cx="2322576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Require reproducible RTL, firmware, STA, DRC/LVS, antenna, and review artifacts before signoff.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4" name="Google Shape;274;p5"/>
          <p:cNvCxnSpPr/>
          <p:nvPr/>
        </p:nvCxnSpPr>
        <p:spPr>
          <a:xfrm>
            <a:off x="502920" y="4910328"/>
            <a:ext cx="8138160" cy="0"/>
          </a:xfrm>
          <a:prstGeom prst="straightConnector1">
            <a:avLst/>
          </a:prstGeom>
          <a:noFill/>
          <a:ln cap="flat" cmpd="sng" w="15225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5" name="Google Shape;275;p5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D15 · MOSAIC-SoC · Chipathon 2026 Schematic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5"/>
          <p:cNvSpPr txBox="1"/>
          <p:nvPr/>
        </p:nvSpPr>
        <p:spPr>
          <a:xfrm>
            <a:off x="8046720" y="4919471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5"/>
          <p:cNvSpPr txBox="1"/>
          <p:nvPr/>
        </p:nvSpPr>
        <p:spPr>
          <a:xfrm>
            <a:off x="983625" y="922150"/>
            <a:ext cx="59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8" name="Google Shape;278;p5"/>
          <p:cNvSpPr txBox="1"/>
          <p:nvPr/>
        </p:nvSpPr>
        <p:spPr>
          <a:xfrm>
            <a:off x="478200" y="724225"/>
            <a:ext cx="887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</a:rPr>
              <a:t>The schematic must support a useful PoC and stay reproducible from one YAML or handwritten or LLM-authored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5. System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6"/>
          <p:cNvSpPr/>
          <p:nvPr/>
        </p:nvSpPr>
        <p:spPr>
          <a:xfrm>
            <a:off x="7589520" y="320040"/>
            <a:ext cx="960120" cy="29260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F4F7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6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6"/>
          <p:cNvSpPr/>
          <p:nvPr/>
        </p:nvSpPr>
        <p:spPr>
          <a:xfrm>
            <a:off x="338828" y="1170432"/>
            <a:ext cx="1307090" cy="64008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6"/>
          <p:cNvSpPr txBox="1"/>
          <p:nvPr/>
        </p:nvSpPr>
        <p:spPr>
          <a:xfrm>
            <a:off x="502920" y="1298448"/>
            <a:ext cx="1052280" cy="198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mosaic.yaml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6"/>
          <p:cNvSpPr txBox="1"/>
          <p:nvPr/>
        </p:nvSpPr>
        <p:spPr>
          <a:xfrm>
            <a:off x="594360" y="1536192"/>
            <a:ext cx="960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cores · SRAM · I/O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" name="Google Shape;290;p6"/>
          <p:cNvCxnSpPr/>
          <p:nvPr/>
        </p:nvCxnSpPr>
        <p:spPr>
          <a:xfrm>
            <a:off x="1664208" y="1490472"/>
            <a:ext cx="301752" cy="0"/>
          </a:xfrm>
          <a:prstGeom prst="straightConnector1">
            <a:avLst/>
          </a:prstGeom>
          <a:noFill/>
          <a:ln cap="flat" cmpd="sng" w="177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1" name="Google Shape;291;p6"/>
          <p:cNvSpPr/>
          <p:nvPr/>
        </p:nvSpPr>
        <p:spPr>
          <a:xfrm>
            <a:off x="1965960" y="1170432"/>
            <a:ext cx="141732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6"/>
          <p:cNvSpPr txBox="1"/>
          <p:nvPr/>
        </p:nvSpPr>
        <p:spPr>
          <a:xfrm>
            <a:off x="2103120" y="1289304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MOSAIC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6"/>
          <p:cNvSpPr txBox="1"/>
          <p:nvPr/>
        </p:nvSpPr>
        <p:spPr>
          <a:xfrm>
            <a:off x="2084831" y="1554480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validate · generate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4" name="Google Shape;294;p6"/>
          <p:cNvCxnSpPr/>
          <p:nvPr/>
        </p:nvCxnSpPr>
        <p:spPr>
          <a:xfrm>
            <a:off x="3401568" y="1490472"/>
            <a:ext cx="301752" cy="0"/>
          </a:xfrm>
          <a:prstGeom prst="straightConnector1">
            <a:avLst/>
          </a:prstGeom>
          <a:noFill/>
          <a:ln cap="flat" cmpd="sng" w="17775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5" name="Google Shape;295;p6"/>
          <p:cNvSpPr/>
          <p:nvPr/>
        </p:nvSpPr>
        <p:spPr>
          <a:xfrm>
            <a:off x="3703320" y="1078992"/>
            <a:ext cx="4937760" cy="96012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6"/>
          <p:cNvSpPr txBox="1"/>
          <p:nvPr/>
        </p:nvSpPr>
        <p:spPr>
          <a:xfrm>
            <a:off x="3867911" y="1207007"/>
            <a:ext cx="46085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Generated heterogeneous core cluster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3931920" y="1481328"/>
            <a:ext cx="1298448" cy="3931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6"/>
          <p:cNvSpPr txBox="1"/>
          <p:nvPr/>
        </p:nvSpPr>
        <p:spPr>
          <a:xfrm>
            <a:off x="4005072" y="1517904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TITAN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6"/>
          <p:cNvSpPr txBox="1"/>
          <p:nvPr/>
        </p:nvSpPr>
        <p:spPr>
          <a:xfrm>
            <a:off x="4370831" y="1499616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1× cv32e20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6"/>
          <p:cNvSpPr/>
          <p:nvPr/>
        </p:nvSpPr>
        <p:spPr>
          <a:xfrm>
            <a:off x="5458968" y="1481328"/>
            <a:ext cx="1298448" cy="3931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6"/>
          <p:cNvSpPr txBox="1"/>
          <p:nvPr/>
        </p:nvSpPr>
        <p:spPr>
          <a:xfrm>
            <a:off x="5532120" y="1517904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ATLAS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6"/>
          <p:cNvSpPr txBox="1"/>
          <p:nvPr/>
        </p:nvSpPr>
        <p:spPr>
          <a:xfrm>
            <a:off x="5897879" y="1499616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2× FazyRV-CHUNK8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6986016" y="1481328"/>
            <a:ext cx="1298448" cy="3931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6"/>
          <p:cNvSpPr txBox="1"/>
          <p:nvPr/>
        </p:nvSpPr>
        <p:spPr>
          <a:xfrm>
            <a:off x="7059168" y="1517904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rPr>
              <a:t>NANO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6"/>
          <p:cNvSpPr txBox="1"/>
          <p:nvPr/>
        </p:nvSpPr>
        <p:spPr>
          <a:xfrm>
            <a:off x="7424927" y="1499616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4× SERV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6" name="Google Shape;306;p6"/>
          <p:cNvCxnSpPr/>
          <p:nvPr/>
        </p:nvCxnSpPr>
        <p:spPr>
          <a:xfrm>
            <a:off x="6172200" y="2039112"/>
            <a:ext cx="0" cy="246888"/>
          </a:xfrm>
          <a:prstGeom prst="straightConnector1">
            <a:avLst/>
          </a:prstGeom>
          <a:noFill/>
          <a:ln cap="flat" cmpd="sng" w="17775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07" name="Google Shape;307;p6"/>
          <p:cNvSpPr/>
          <p:nvPr/>
        </p:nvSpPr>
        <p:spPr>
          <a:xfrm>
            <a:off x="2880360" y="2286000"/>
            <a:ext cx="338328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6"/>
          <p:cNvSpPr txBox="1"/>
          <p:nvPr/>
        </p:nvSpPr>
        <p:spPr>
          <a:xfrm>
            <a:off x="3063240" y="2395728"/>
            <a:ext cx="301751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Standard Core Interface wrappers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6"/>
          <p:cNvSpPr txBox="1"/>
          <p:nvPr/>
        </p:nvSpPr>
        <p:spPr>
          <a:xfrm>
            <a:off x="3063240" y="2633472"/>
            <a:ext cx="3017519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OBI I/D · hart ID · wake · clock-stall adapter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0" name="Google Shape;310;p6"/>
          <p:cNvCxnSpPr/>
          <p:nvPr/>
        </p:nvCxnSpPr>
        <p:spPr>
          <a:xfrm>
            <a:off x="4572000" y="2926080"/>
            <a:ext cx="0" cy="228600"/>
          </a:xfrm>
          <a:prstGeom prst="straightConnector1">
            <a:avLst/>
          </a:prstGeom>
          <a:noFill/>
          <a:ln cap="flat" cmpd="sng" w="17775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11" name="Google Shape;311;p6"/>
          <p:cNvSpPr/>
          <p:nvPr/>
        </p:nvSpPr>
        <p:spPr>
          <a:xfrm>
            <a:off x="2286000" y="3154680"/>
            <a:ext cx="4572000" cy="530352"/>
          </a:xfrm>
          <a:prstGeom prst="roundRect">
            <a:avLst>
              <a:gd fmla="val 16667" name="adj"/>
            </a:avLst>
          </a:prstGeom>
          <a:solidFill>
            <a:srgbClr val="44505A"/>
          </a:solidFill>
          <a:ln cap="flat" cmpd="sng" w="12700">
            <a:solidFill>
              <a:srgbClr val="4450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6"/>
          <p:cNvSpPr txBox="1"/>
          <p:nvPr/>
        </p:nvSpPr>
        <p:spPr>
          <a:xfrm>
            <a:off x="2468880" y="3236976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Parameterized OBI N×M system interconnect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3" name="Google Shape;313;p6"/>
          <p:cNvCxnSpPr/>
          <p:nvPr/>
        </p:nvCxnSpPr>
        <p:spPr>
          <a:xfrm>
            <a:off x="4572000" y="3685032"/>
            <a:ext cx="0" cy="118872"/>
          </a:xfrm>
          <a:prstGeom prst="straightConnector1">
            <a:avLst/>
          </a:prstGeom>
          <a:noFill/>
          <a:ln cap="flat" cmpd="sng" w="17775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14" name="Google Shape;314;p6"/>
          <p:cNvCxnSpPr/>
          <p:nvPr/>
        </p:nvCxnSpPr>
        <p:spPr>
          <a:xfrm>
            <a:off x="1755648" y="3803904"/>
            <a:ext cx="5650992" cy="0"/>
          </a:xfrm>
          <a:prstGeom prst="straightConnector1">
            <a:avLst/>
          </a:prstGeom>
          <a:noFill/>
          <a:ln cap="flat" cmpd="sng" w="17775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15" name="Google Shape;315;p6"/>
          <p:cNvCxnSpPr/>
          <p:nvPr/>
        </p:nvCxnSpPr>
        <p:spPr>
          <a:xfrm>
            <a:off x="1755648" y="3803904"/>
            <a:ext cx="0" cy="128016"/>
          </a:xfrm>
          <a:prstGeom prst="straightConnector1">
            <a:avLst/>
          </a:prstGeom>
          <a:noFill/>
          <a:ln cap="flat" cmpd="sng" w="17775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16" name="Google Shape;316;p6"/>
          <p:cNvSpPr/>
          <p:nvPr/>
        </p:nvSpPr>
        <p:spPr>
          <a:xfrm>
            <a:off x="502920" y="3931920"/>
            <a:ext cx="2514600" cy="69494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6"/>
          <p:cNvSpPr txBox="1"/>
          <p:nvPr/>
        </p:nvSpPr>
        <p:spPr>
          <a:xfrm>
            <a:off x="612648" y="4005072"/>
            <a:ext cx="22951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CONTROL + DATA MOVEMENT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6"/>
          <p:cNvSpPr txBox="1"/>
          <p:nvPr/>
        </p:nvSpPr>
        <p:spPr>
          <a:xfrm>
            <a:off x="612648" y="4224528"/>
            <a:ext cx="22951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TDU · wake / FIFO / CPI-energy counters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iDMA · register FE / ND / native OBI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9" name="Google Shape;319;p6"/>
          <p:cNvCxnSpPr/>
          <p:nvPr/>
        </p:nvCxnSpPr>
        <p:spPr>
          <a:xfrm>
            <a:off x="4572000" y="3803904"/>
            <a:ext cx="0" cy="128016"/>
          </a:xfrm>
          <a:prstGeom prst="straightConnector1">
            <a:avLst/>
          </a:prstGeom>
          <a:noFill/>
          <a:ln cap="flat" cmpd="sng" w="17775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20" name="Google Shape;320;p6"/>
          <p:cNvSpPr/>
          <p:nvPr/>
        </p:nvSpPr>
        <p:spPr>
          <a:xfrm>
            <a:off x="3246120" y="3931920"/>
            <a:ext cx="2651760" cy="69494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6"/>
          <p:cNvSpPr txBox="1"/>
          <p:nvPr/>
        </p:nvSpPr>
        <p:spPr>
          <a:xfrm>
            <a:off x="3355848" y="4005072"/>
            <a:ext cx="243230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rPr>
              <a:t>MEMORY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6"/>
          <p:cNvSpPr txBox="1"/>
          <p:nvPr/>
        </p:nvSpPr>
        <p:spPr>
          <a:xfrm>
            <a:off x="3355848" y="4224528"/>
            <a:ext cx="243230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32 KB logical banked SRAM · 2 KB boot ROM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GF180 macro substitution remains open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3" name="Google Shape;323;p6"/>
          <p:cNvCxnSpPr/>
          <p:nvPr/>
        </p:nvCxnSpPr>
        <p:spPr>
          <a:xfrm>
            <a:off x="7406640" y="3803904"/>
            <a:ext cx="0" cy="128016"/>
          </a:xfrm>
          <a:prstGeom prst="straightConnector1">
            <a:avLst/>
          </a:prstGeom>
          <a:noFill/>
          <a:ln cap="flat" cmpd="sng" w="17775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24" name="Google Shape;324;p6"/>
          <p:cNvSpPr/>
          <p:nvPr/>
        </p:nvSpPr>
        <p:spPr>
          <a:xfrm>
            <a:off x="6126480" y="3931920"/>
            <a:ext cx="2514600" cy="69494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6"/>
          <p:cNvSpPr txBox="1"/>
          <p:nvPr/>
        </p:nvSpPr>
        <p:spPr>
          <a:xfrm>
            <a:off x="6236208" y="4005072"/>
            <a:ext cx="22951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PLATFORM SERVICES + I/O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6"/>
          <p:cNvSpPr txBox="1"/>
          <p:nvPr/>
        </p:nvSpPr>
        <p:spPr>
          <a:xfrm>
            <a:off x="6236208" y="4224528"/>
            <a:ext cx="22951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Debug · PLIC · timers · power manager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UART · GPIO · SPI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7" name="Google Shape;327;p6"/>
          <p:cNvCxnSpPr/>
          <p:nvPr/>
        </p:nvCxnSpPr>
        <p:spPr>
          <a:xfrm>
            <a:off x="502920" y="4910328"/>
            <a:ext cx="8138160" cy="0"/>
          </a:xfrm>
          <a:prstGeom prst="straightConnector1">
            <a:avLst/>
          </a:prstGeom>
          <a:noFill/>
          <a:ln cap="flat" cmpd="sng" w="15225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28" name="Google Shape;328;p6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D15 · MOSAIC-SoC · Chipathon 2026 Schematic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6"/>
          <p:cNvSpPr txBox="1"/>
          <p:nvPr/>
        </p:nvSpPr>
        <p:spPr>
          <a:xfrm>
            <a:off x="8046720" y="4919471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7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6. oh-my-soc Agentic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7"/>
          <p:cNvSpPr txBox="1"/>
          <p:nvPr/>
        </p:nvSpPr>
        <p:spPr>
          <a:xfrm>
            <a:off x="585216" y="749808"/>
            <a:ext cx="7955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8909C"/>
                </a:solidFill>
              </a:rPr>
              <a:t>The AI/LLM contribution (</a:t>
            </a:r>
            <a:r>
              <a:rPr b="0" i="0" lang="en-US" sz="11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Phase 2):  deterministic Python skills around configuration, flows, reports, and documentation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7"/>
          <p:cNvSpPr/>
          <p:nvPr/>
        </p:nvSpPr>
        <p:spPr>
          <a:xfrm>
            <a:off x="7589520" y="320040"/>
            <a:ext cx="960120" cy="29260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F4F7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7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7"/>
          <p:cNvSpPr/>
          <p:nvPr/>
        </p:nvSpPr>
        <p:spPr>
          <a:xfrm>
            <a:off x="502920" y="1170432"/>
            <a:ext cx="1325880" cy="6766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7"/>
          <p:cNvSpPr txBox="1"/>
          <p:nvPr/>
        </p:nvSpPr>
        <p:spPr>
          <a:xfrm>
            <a:off x="594360" y="1280160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Agent / human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7"/>
          <p:cNvSpPr txBox="1"/>
          <p:nvPr/>
        </p:nvSpPr>
        <p:spPr>
          <a:xfrm>
            <a:off x="594360" y="1536192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intent · config · report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7"/>
          <p:cNvSpPr/>
          <p:nvPr/>
        </p:nvSpPr>
        <p:spPr>
          <a:xfrm>
            <a:off x="2057400" y="1170432"/>
            <a:ext cx="1417320" cy="6766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7"/>
          <p:cNvSpPr txBox="1"/>
          <p:nvPr/>
        </p:nvSpPr>
        <p:spPr>
          <a:xfrm>
            <a:off x="2148840" y="1280160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oh-my-soc CLI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7"/>
          <p:cNvSpPr txBox="1"/>
          <p:nvPr/>
        </p:nvSpPr>
        <p:spPr>
          <a:xfrm>
            <a:off x="2148840" y="1536192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python -m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7"/>
          <p:cNvSpPr/>
          <p:nvPr/>
        </p:nvSpPr>
        <p:spPr>
          <a:xfrm>
            <a:off x="5715000" y="1170432"/>
            <a:ext cx="1325880" cy="6766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7"/>
          <p:cNvSpPr txBox="1"/>
          <p:nvPr/>
        </p:nvSpPr>
        <p:spPr>
          <a:xfrm>
            <a:off x="5806440" y="1280160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rPr>
              <a:t>SkillResult 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7"/>
          <p:cNvSpPr txBox="1"/>
          <p:nvPr/>
        </p:nvSpPr>
        <p:spPr>
          <a:xfrm>
            <a:off x="5806440" y="1536192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ok · metrics · errors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7"/>
          <p:cNvSpPr/>
          <p:nvPr/>
        </p:nvSpPr>
        <p:spPr>
          <a:xfrm>
            <a:off x="7269480" y="1170432"/>
            <a:ext cx="1371600" cy="6766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7"/>
          <p:cNvSpPr txBox="1"/>
          <p:nvPr/>
        </p:nvSpPr>
        <p:spPr>
          <a:xfrm>
            <a:off x="7360920" y="128016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Deterministic tools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7"/>
          <p:cNvSpPr txBox="1"/>
          <p:nvPr/>
        </p:nvSpPr>
        <p:spPr>
          <a:xfrm>
            <a:off x="7360920" y="15361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make · Verilator · LibreLane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" name="Google Shape;351;p7"/>
          <p:cNvCxnSpPr/>
          <p:nvPr/>
        </p:nvCxnSpPr>
        <p:spPr>
          <a:xfrm>
            <a:off x="1828800" y="1508759"/>
            <a:ext cx="228600" cy="0"/>
          </a:xfrm>
          <a:prstGeom prst="straightConnector1">
            <a:avLst/>
          </a:prstGeom>
          <a:noFill/>
          <a:ln cap="flat" cmpd="sng" w="177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52" name="Google Shape;352;p7"/>
          <p:cNvCxnSpPr/>
          <p:nvPr/>
        </p:nvCxnSpPr>
        <p:spPr>
          <a:xfrm>
            <a:off x="3493008" y="1508759"/>
            <a:ext cx="2203704" cy="0"/>
          </a:xfrm>
          <a:prstGeom prst="straightConnector1">
            <a:avLst/>
          </a:prstGeom>
          <a:noFill/>
          <a:ln cap="flat" cmpd="sng" w="17775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53" name="Google Shape;353;p7"/>
          <p:cNvCxnSpPr/>
          <p:nvPr/>
        </p:nvCxnSpPr>
        <p:spPr>
          <a:xfrm>
            <a:off x="7059168" y="1508759"/>
            <a:ext cx="210312" cy="0"/>
          </a:xfrm>
          <a:prstGeom prst="straightConnector1">
            <a:avLst/>
          </a:prstGeom>
          <a:noFill/>
          <a:ln cap="flat" cmpd="sng" w="1777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54" name="Google Shape;354;p7"/>
          <p:cNvSpPr/>
          <p:nvPr/>
        </p:nvSpPr>
        <p:spPr>
          <a:xfrm>
            <a:off x="4114800" y="1362455"/>
            <a:ext cx="914400" cy="292608"/>
          </a:xfrm>
          <a:prstGeom prst="roundRect">
            <a:avLst>
              <a:gd fmla="val 16667" name="adj"/>
            </a:avLst>
          </a:prstGeom>
          <a:solidFill>
            <a:srgbClr val="44505A"/>
          </a:solidFill>
          <a:ln cap="flat" cmpd="sng" w="12700">
            <a:solidFill>
              <a:srgbClr val="4450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7"/>
          <p:cNvSpPr txBox="1"/>
          <p:nvPr/>
        </p:nvSpPr>
        <p:spPr>
          <a:xfrm>
            <a:off x="4114800" y="1362455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SKILLS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7"/>
          <p:cNvSpPr/>
          <p:nvPr/>
        </p:nvSpPr>
        <p:spPr>
          <a:xfrm>
            <a:off x="502920" y="2148840"/>
            <a:ext cx="3977639" cy="8412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7"/>
          <p:cNvSpPr/>
          <p:nvPr/>
        </p:nvSpPr>
        <p:spPr>
          <a:xfrm>
            <a:off x="667512" y="2313432"/>
            <a:ext cx="1280160" cy="292608"/>
          </a:xfrm>
          <a:prstGeom prst="roundRect">
            <a:avLst>
              <a:gd fmla="val 16667" name="adj"/>
            </a:avLst>
          </a:prstGeom>
          <a:solidFill>
            <a:srgbClr val="4285F4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7"/>
          <p:cNvSpPr txBox="1"/>
          <p:nvPr/>
        </p:nvSpPr>
        <p:spPr>
          <a:xfrm>
            <a:off x="667512" y="231343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CONFIG-AUTHOR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7"/>
          <p:cNvSpPr txBox="1"/>
          <p:nvPr/>
        </p:nvSpPr>
        <p:spPr>
          <a:xfrm>
            <a:off x="2130552" y="2295144"/>
            <a:ext cx="2148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3 presets · schema validation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valid mosaic.yaml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7"/>
          <p:cNvSpPr/>
          <p:nvPr/>
        </p:nvSpPr>
        <p:spPr>
          <a:xfrm>
            <a:off x="4690872" y="2148840"/>
            <a:ext cx="3977639" cy="8412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7"/>
          <p:cNvSpPr/>
          <p:nvPr/>
        </p:nvSpPr>
        <p:spPr>
          <a:xfrm>
            <a:off x="4855464" y="2313432"/>
            <a:ext cx="1280160" cy="292608"/>
          </a:xfrm>
          <a:prstGeom prst="roundRect">
            <a:avLst>
              <a:gd fmla="val 16667" name="adj"/>
            </a:avLst>
          </a:prstGeom>
          <a:solidFill>
            <a:srgbClr val="0097A7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7"/>
          <p:cNvSpPr txBox="1"/>
          <p:nvPr/>
        </p:nvSpPr>
        <p:spPr>
          <a:xfrm>
            <a:off x="4855464" y="231343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FLOW-RUNNER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7"/>
          <p:cNvSpPr txBox="1"/>
          <p:nvPr/>
        </p:nvSpPr>
        <p:spPr>
          <a:xfrm>
            <a:off x="6318504" y="2295144"/>
            <a:ext cx="2148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11 registered flows · timeout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structured log summaries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7"/>
          <p:cNvSpPr/>
          <p:nvPr/>
        </p:nvSpPr>
        <p:spPr>
          <a:xfrm>
            <a:off x="502920" y="3172968"/>
            <a:ext cx="3977639" cy="8412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7"/>
          <p:cNvSpPr/>
          <p:nvPr/>
        </p:nvSpPr>
        <p:spPr>
          <a:xfrm>
            <a:off x="667512" y="3337560"/>
            <a:ext cx="1280160" cy="292608"/>
          </a:xfrm>
          <a:prstGeom prst="roundRect">
            <a:avLst>
              <a:gd fmla="val 16667" name="adj"/>
            </a:avLst>
          </a:prstGeom>
          <a:solidFill>
            <a:srgbClr val="FFAB40"/>
          </a:solidFill>
          <a:ln cap="flat" cmpd="sng" w="12700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7"/>
          <p:cNvSpPr txBox="1"/>
          <p:nvPr/>
        </p:nvSpPr>
        <p:spPr>
          <a:xfrm>
            <a:off x="667512" y="333756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DRC-TRIAGE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7"/>
          <p:cNvSpPr txBox="1"/>
          <p:nvPr/>
        </p:nvSpPr>
        <p:spPr>
          <a:xfrm>
            <a:off x="2130552" y="3319272"/>
            <a:ext cx="2148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Magic/KLayout/Netgen parsers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classification + suggestions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7"/>
          <p:cNvSpPr/>
          <p:nvPr/>
        </p:nvSpPr>
        <p:spPr>
          <a:xfrm>
            <a:off x="4690872" y="3172968"/>
            <a:ext cx="3977639" cy="8412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7"/>
          <p:cNvSpPr/>
          <p:nvPr/>
        </p:nvSpPr>
        <p:spPr>
          <a:xfrm>
            <a:off x="4855464" y="3337560"/>
            <a:ext cx="1280160" cy="292608"/>
          </a:xfrm>
          <a:prstGeom prst="roundRect">
            <a:avLst>
              <a:gd fmla="val 16667" name="adj"/>
            </a:avLst>
          </a:prstGeom>
          <a:solidFill>
            <a:srgbClr val="78909C"/>
          </a:solidFill>
          <a:ln cap="flat" cmpd="sng" w="12700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7"/>
          <p:cNvSpPr txBox="1"/>
          <p:nvPr/>
        </p:nvSpPr>
        <p:spPr>
          <a:xfrm>
            <a:off x="4855464" y="333756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DOC-GEN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7"/>
          <p:cNvSpPr txBox="1"/>
          <p:nvPr/>
        </p:nvSpPr>
        <p:spPr>
          <a:xfrm>
            <a:off x="6318504" y="3319272"/>
            <a:ext cx="2148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config · memory map · run report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DASHBOARD extraction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7"/>
          <p:cNvSpPr/>
          <p:nvPr/>
        </p:nvSpPr>
        <p:spPr>
          <a:xfrm>
            <a:off x="502920" y="4455694"/>
            <a:ext cx="8229600" cy="31080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F4F7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7"/>
          <p:cNvSpPr txBox="1"/>
          <p:nvPr/>
        </p:nvSpPr>
        <p:spPr>
          <a:xfrm>
            <a:off x="685800" y="4492270"/>
            <a:ext cx="7863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Verified now: </a:t>
            </a:r>
            <a:r>
              <a:rPr b="0" i="0" lang="en-US" sz="9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config validation, preset/list commands, memory-map and dashboard generation.  </a:t>
            </a:r>
            <a:r>
              <a:rPr b="1" i="0" lang="en-US" sz="95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Still open: </a:t>
            </a:r>
            <a:r>
              <a:rPr b="0" i="0" lang="en-US" sz="9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complete harness regression and path-safe firmware flow execution.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" name="Google Shape;374;p7"/>
          <p:cNvCxnSpPr/>
          <p:nvPr/>
        </p:nvCxnSpPr>
        <p:spPr>
          <a:xfrm>
            <a:off x="502920" y="4910328"/>
            <a:ext cx="8138160" cy="0"/>
          </a:xfrm>
          <a:prstGeom prst="straightConnector1">
            <a:avLst/>
          </a:prstGeom>
          <a:noFill/>
          <a:ln cap="flat" cmpd="sng" w="15225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75" name="Google Shape;375;p7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D15 · MOSAIC-SoC · Chipathon 2026 Schematic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7"/>
          <p:cNvSpPr txBox="1"/>
          <p:nvPr/>
        </p:nvSpPr>
        <p:spPr>
          <a:xfrm>
            <a:off x="8046720" y="4919471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7"/>
          <p:cNvSpPr txBox="1"/>
          <p:nvPr/>
        </p:nvSpPr>
        <p:spPr>
          <a:xfrm>
            <a:off x="168000" y="4000413"/>
            <a:ext cx="8472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US" sz="1100">
                <a:solidFill>
                  <a:srgbClr val="0097A7"/>
                </a:solidFill>
              </a:rPr>
              <a:t>Proposal-review response: </a:t>
            </a:r>
            <a:r>
              <a:rPr lang="en-US" sz="1100">
                <a:solidFill>
                  <a:srgbClr val="44505A"/>
                </a:solidFill>
              </a:rPr>
              <a:t>no specially trained LLM is needed,  module connection is generated deterministically from the schema-validated mosaic.yaml; the agent authors, runs, triages, and documents.</a:t>
            </a:r>
            <a:endParaRPr sz="1100">
              <a:solidFill>
                <a:srgbClr val="44505A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8"/>
          <p:cNvSpPr txBox="1"/>
          <p:nvPr/>
        </p:nvSpPr>
        <p:spPr>
          <a:xfrm>
            <a:off x="566928" y="317531"/>
            <a:ext cx="8002439" cy="381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7. Core, Interconnect &amp; Scheduling 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8"/>
          <p:cNvSpPr txBox="1"/>
          <p:nvPr/>
        </p:nvSpPr>
        <p:spPr>
          <a:xfrm>
            <a:off x="585216" y="749808"/>
            <a:ext cx="79552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A tiered execution model over one generated memory map and one shared fabric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8"/>
          <p:cNvSpPr/>
          <p:nvPr/>
        </p:nvSpPr>
        <p:spPr>
          <a:xfrm>
            <a:off x="7589520" y="320040"/>
            <a:ext cx="960120" cy="29260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F4F7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8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8"/>
          <p:cNvSpPr/>
          <p:nvPr/>
        </p:nvSpPr>
        <p:spPr>
          <a:xfrm>
            <a:off x="502920" y="1188720"/>
            <a:ext cx="2651760" cy="12984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8"/>
          <p:cNvSpPr/>
          <p:nvPr/>
        </p:nvSpPr>
        <p:spPr>
          <a:xfrm>
            <a:off x="667512" y="1353312"/>
            <a:ext cx="932688" cy="292608"/>
          </a:xfrm>
          <a:prstGeom prst="roundRect">
            <a:avLst>
              <a:gd fmla="val 16667" name="adj"/>
            </a:avLst>
          </a:prstGeom>
          <a:solidFill>
            <a:srgbClr val="4285F4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8"/>
          <p:cNvSpPr txBox="1"/>
          <p:nvPr/>
        </p:nvSpPr>
        <p:spPr>
          <a:xfrm>
            <a:off x="667512" y="1353312"/>
            <a:ext cx="9326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 · TITAN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8"/>
          <p:cNvSpPr txBox="1"/>
          <p:nvPr/>
        </p:nvSpPr>
        <p:spPr>
          <a:xfrm>
            <a:off x="1691640" y="1353312"/>
            <a:ext cx="1243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1× cv32e20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8"/>
          <p:cNvSpPr txBox="1"/>
          <p:nvPr/>
        </p:nvSpPr>
        <p:spPr>
          <a:xfrm>
            <a:off x="685800" y="1755648"/>
            <a:ext cx="22860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Boots immediately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Owns external interrupts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Dispatches worker tasks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8"/>
          <p:cNvSpPr/>
          <p:nvPr/>
        </p:nvSpPr>
        <p:spPr>
          <a:xfrm>
            <a:off x="3355848" y="1188720"/>
            <a:ext cx="2651760" cy="12984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8"/>
          <p:cNvSpPr/>
          <p:nvPr/>
        </p:nvSpPr>
        <p:spPr>
          <a:xfrm>
            <a:off x="3520440" y="1353312"/>
            <a:ext cx="932688" cy="292608"/>
          </a:xfrm>
          <a:prstGeom prst="roundRect">
            <a:avLst>
              <a:gd fmla="val 16667" name="adj"/>
            </a:avLst>
          </a:prstGeom>
          <a:solidFill>
            <a:srgbClr val="0097A7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8"/>
          <p:cNvSpPr txBox="1"/>
          <p:nvPr/>
        </p:nvSpPr>
        <p:spPr>
          <a:xfrm>
            <a:off x="3520440" y="1353312"/>
            <a:ext cx="9326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T2 · ATLAS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8"/>
          <p:cNvSpPr txBox="1"/>
          <p:nvPr/>
        </p:nvSpPr>
        <p:spPr>
          <a:xfrm>
            <a:off x="4544568" y="1353312"/>
            <a:ext cx="1243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2× FazyRV-CHUNK8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8"/>
          <p:cNvSpPr txBox="1"/>
          <p:nvPr/>
        </p:nvSpPr>
        <p:spPr>
          <a:xfrm>
            <a:off x="3538728" y="1755648"/>
            <a:ext cx="22860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Chunk-serial workers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Dormant at reset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Wake through TDU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8"/>
          <p:cNvSpPr/>
          <p:nvPr/>
        </p:nvSpPr>
        <p:spPr>
          <a:xfrm>
            <a:off x="6208776" y="1188720"/>
            <a:ext cx="2651760" cy="12984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8"/>
          <p:cNvSpPr/>
          <p:nvPr/>
        </p:nvSpPr>
        <p:spPr>
          <a:xfrm>
            <a:off x="6373368" y="1353312"/>
            <a:ext cx="932688" cy="292608"/>
          </a:xfrm>
          <a:prstGeom prst="roundRect">
            <a:avLst>
              <a:gd fmla="val 16667" name="adj"/>
            </a:avLst>
          </a:prstGeom>
          <a:solidFill>
            <a:srgbClr val="FFAB40"/>
          </a:solidFill>
          <a:ln cap="flat" cmpd="sng" w="12700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8"/>
          <p:cNvSpPr txBox="1"/>
          <p:nvPr/>
        </p:nvSpPr>
        <p:spPr>
          <a:xfrm>
            <a:off x="6373368" y="1353312"/>
            <a:ext cx="9326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T3 · NANO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8"/>
          <p:cNvSpPr txBox="1"/>
          <p:nvPr/>
        </p:nvSpPr>
        <p:spPr>
          <a:xfrm>
            <a:off x="7397496" y="1353312"/>
            <a:ext cx="1243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4× SERV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8"/>
          <p:cNvSpPr txBox="1"/>
          <p:nvPr/>
        </p:nvSpPr>
        <p:spPr>
          <a:xfrm>
            <a:off x="6391656" y="1755648"/>
            <a:ext cx="22860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Bit-serial workers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Dormant at reset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Wake through TDU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2" name="Google Shape;402;p8"/>
          <p:cNvCxnSpPr/>
          <p:nvPr/>
        </p:nvCxnSpPr>
        <p:spPr>
          <a:xfrm>
            <a:off x="1783080" y="2496312"/>
            <a:ext cx="2770632" cy="393192"/>
          </a:xfrm>
          <a:prstGeom prst="straightConnector1">
            <a:avLst/>
          </a:prstGeom>
          <a:noFill/>
          <a:ln cap="flat" cmpd="sng" w="177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03" name="Google Shape;403;p8"/>
          <p:cNvCxnSpPr/>
          <p:nvPr/>
        </p:nvCxnSpPr>
        <p:spPr>
          <a:xfrm>
            <a:off x="4572000" y="2496312"/>
            <a:ext cx="0" cy="393192"/>
          </a:xfrm>
          <a:prstGeom prst="straightConnector1">
            <a:avLst/>
          </a:prstGeom>
          <a:noFill/>
          <a:ln cap="flat" cmpd="sng" w="17775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04" name="Google Shape;404;p8"/>
          <p:cNvCxnSpPr/>
          <p:nvPr/>
        </p:nvCxnSpPr>
        <p:spPr>
          <a:xfrm flipH="1">
            <a:off x="4590288" y="2496312"/>
            <a:ext cx="2770632" cy="393192"/>
          </a:xfrm>
          <a:prstGeom prst="straightConnector1">
            <a:avLst/>
          </a:prstGeom>
          <a:noFill/>
          <a:ln cap="flat" cmpd="sng" w="1777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05" name="Google Shape;405;p8"/>
          <p:cNvSpPr/>
          <p:nvPr/>
        </p:nvSpPr>
        <p:spPr>
          <a:xfrm>
            <a:off x="2816352" y="2880360"/>
            <a:ext cx="3520440" cy="56692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8"/>
          <p:cNvSpPr txBox="1"/>
          <p:nvPr/>
        </p:nvSpPr>
        <p:spPr>
          <a:xfrm>
            <a:off x="3017519" y="3017519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SCI wrappers normalize each core to OBI 1.3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7" name="Google Shape;407;p8"/>
          <p:cNvCxnSpPr/>
          <p:nvPr/>
        </p:nvCxnSpPr>
        <p:spPr>
          <a:xfrm>
            <a:off x="4572000" y="3447288"/>
            <a:ext cx="0" cy="228599"/>
          </a:xfrm>
          <a:prstGeom prst="straightConnector1">
            <a:avLst/>
          </a:prstGeom>
          <a:noFill/>
          <a:ln cap="flat" cmpd="sng" w="17775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08" name="Google Shape;408;p8"/>
          <p:cNvSpPr/>
          <p:nvPr/>
        </p:nvSpPr>
        <p:spPr>
          <a:xfrm>
            <a:off x="2084831" y="3675887"/>
            <a:ext cx="4983480" cy="512064"/>
          </a:xfrm>
          <a:prstGeom prst="roundRect">
            <a:avLst>
              <a:gd fmla="val 16667" name="adj"/>
            </a:avLst>
          </a:prstGeom>
          <a:solidFill>
            <a:srgbClr val="44505A"/>
          </a:solidFill>
          <a:ln cap="flat" cmpd="sng" w="12700">
            <a:solidFill>
              <a:srgbClr val="4450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8"/>
          <p:cNvSpPr txBox="1"/>
          <p:nvPr/>
        </p:nvSpPr>
        <p:spPr>
          <a:xfrm>
            <a:off x="2267712" y="3767328"/>
            <a:ext cx="4617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masters per hart + debug + iDMA ports → generated OBI crossbar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0" name="Google Shape;410;p8"/>
          <p:cNvCxnSpPr/>
          <p:nvPr/>
        </p:nvCxnSpPr>
        <p:spPr>
          <a:xfrm flipH="1">
            <a:off x="2331720" y="4197096"/>
            <a:ext cx="1005840" cy="301752"/>
          </a:xfrm>
          <a:prstGeom prst="straightConnector1">
            <a:avLst/>
          </a:prstGeom>
          <a:noFill/>
          <a:ln cap="flat" cmpd="sng" w="17775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11" name="Google Shape;411;p8"/>
          <p:cNvCxnSpPr/>
          <p:nvPr/>
        </p:nvCxnSpPr>
        <p:spPr>
          <a:xfrm>
            <a:off x="4572000" y="4197096"/>
            <a:ext cx="0" cy="301752"/>
          </a:xfrm>
          <a:prstGeom prst="straightConnector1">
            <a:avLst/>
          </a:prstGeom>
          <a:noFill/>
          <a:ln cap="flat" cmpd="sng" w="1777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12" name="Google Shape;412;p8"/>
          <p:cNvCxnSpPr/>
          <p:nvPr/>
        </p:nvCxnSpPr>
        <p:spPr>
          <a:xfrm>
            <a:off x="5806440" y="4197096"/>
            <a:ext cx="1005840" cy="301752"/>
          </a:xfrm>
          <a:prstGeom prst="straightConnector1">
            <a:avLst/>
          </a:prstGeom>
          <a:noFill/>
          <a:ln cap="flat" cmpd="sng" w="177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13" name="Google Shape;413;p8"/>
          <p:cNvSpPr txBox="1"/>
          <p:nvPr/>
        </p:nvSpPr>
        <p:spPr>
          <a:xfrm>
            <a:off x="1417320" y="450799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TDU @ 0x200A0000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8"/>
          <p:cNvSpPr txBox="1"/>
          <p:nvPr/>
        </p:nvSpPr>
        <p:spPr>
          <a:xfrm>
            <a:off x="3703320" y="4507992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rPr>
              <a:t>banked SRAM + ROM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8"/>
          <p:cNvSpPr txBox="1"/>
          <p:nvPr/>
        </p:nvSpPr>
        <p:spPr>
          <a:xfrm>
            <a:off x="5925312" y="450799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peripherals + debug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6" name="Google Shape;416;p8"/>
          <p:cNvCxnSpPr/>
          <p:nvPr/>
        </p:nvCxnSpPr>
        <p:spPr>
          <a:xfrm>
            <a:off x="502920" y="4910328"/>
            <a:ext cx="8138160" cy="0"/>
          </a:xfrm>
          <a:prstGeom prst="straightConnector1">
            <a:avLst/>
          </a:prstGeom>
          <a:noFill/>
          <a:ln cap="flat" cmpd="sng" w="15225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17" name="Google Shape;417;p8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D15 · MOSAIC-SoC · Chipathon 2026 Schematic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8"/>
          <p:cNvSpPr txBox="1"/>
          <p:nvPr/>
        </p:nvSpPr>
        <p:spPr>
          <a:xfrm>
            <a:off x="8046720" y="4919471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9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8. Firmware &amp; Scheduling Modes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9"/>
          <p:cNvSpPr txBox="1"/>
          <p:nvPr/>
        </p:nvSpPr>
        <p:spPr>
          <a:xfrm>
            <a:off x="585216" y="749808"/>
            <a:ext cx="79552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New bare-metal RV32I firmware programs the TDU and provides per-tier worker workloads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9"/>
          <p:cNvSpPr/>
          <p:nvPr/>
        </p:nvSpPr>
        <p:spPr>
          <a:xfrm>
            <a:off x="7589520" y="320040"/>
            <a:ext cx="960120" cy="29260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F4F7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9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FIRMWARE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9"/>
          <p:cNvSpPr/>
          <p:nvPr/>
        </p:nvSpPr>
        <p:spPr>
          <a:xfrm>
            <a:off x="502920" y="1170432"/>
            <a:ext cx="2468880" cy="340156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9"/>
          <p:cNvSpPr txBox="1"/>
          <p:nvPr/>
        </p:nvSpPr>
        <p:spPr>
          <a:xfrm>
            <a:off x="667512" y="1298448"/>
            <a:ext cx="21396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TITAN control plane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9"/>
          <p:cNvSpPr/>
          <p:nvPr/>
        </p:nvSpPr>
        <p:spPr>
          <a:xfrm>
            <a:off x="731520" y="1664208"/>
            <a:ext cx="1234440" cy="292608"/>
          </a:xfrm>
          <a:prstGeom prst="roundRect">
            <a:avLst>
              <a:gd fmla="val 16667" name="adj"/>
            </a:avLst>
          </a:prstGeom>
          <a:solidFill>
            <a:srgbClr val="4285F4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9"/>
          <p:cNvSpPr txBox="1"/>
          <p:nvPr/>
        </p:nvSpPr>
        <p:spPr>
          <a:xfrm>
            <a:off x="731520" y="1664208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cv32e20 @ 0x180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9"/>
          <p:cNvSpPr txBox="1"/>
          <p:nvPr/>
        </p:nvSpPr>
        <p:spPr>
          <a:xfrm>
            <a:off x="731520" y="2084831"/>
            <a:ext cx="201168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• tdu.{h,c}: mode, wake mask, task FIFO, CPI estimates, energy counter.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• titan_main.c dispatches ATLAS and NANO work and polls completion sentinels.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• titan_scheduling_demo.c runs STATIC, DYNAMIC, and POWER_AWARE phases.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• Current implementation is bare-metal; FreeRTOS task integration remains future work.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9"/>
          <p:cNvSpPr/>
          <p:nvPr/>
        </p:nvSpPr>
        <p:spPr>
          <a:xfrm>
            <a:off x="731520" y="4114800"/>
            <a:ext cx="694944" cy="292608"/>
          </a:xfrm>
          <a:prstGeom prst="roundRect">
            <a:avLst>
              <a:gd fmla="val 16667" name="adj"/>
            </a:avLst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9"/>
          <p:cNvSpPr txBox="1"/>
          <p:nvPr/>
        </p:nvSpPr>
        <p:spPr>
          <a:xfrm>
            <a:off x="731520" y="4114800"/>
            <a:ext cx="6949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9"/>
          <p:cNvSpPr txBox="1"/>
          <p:nvPr/>
        </p:nvSpPr>
        <p:spPr>
          <a:xfrm>
            <a:off x="1554480" y="4142232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Build verified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9"/>
          <p:cNvSpPr/>
          <p:nvPr/>
        </p:nvSpPr>
        <p:spPr>
          <a:xfrm>
            <a:off x="3200400" y="1170432"/>
            <a:ext cx="1600200" cy="15361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9"/>
          <p:cNvSpPr/>
          <p:nvPr/>
        </p:nvSpPr>
        <p:spPr>
          <a:xfrm>
            <a:off x="3364992" y="1353312"/>
            <a:ext cx="640080" cy="292608"/>
          </a:xfrm>
          <a:prstGeom prst="roundRect">
            <a:avLst>
              <a:gd fmla="val 16667" name="adj"/>
            </a:avLst>
          </a:prstGeom>
          <a:solidFill>
            <a:srgbClr val="0097A7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9"/>
          <p:cNvSpPr txBox="1"/>
          <p:nvPr/>
        </p:nvSpPr>
        <p:spPr>
          <a:xfrm>
            <a:off x="3364992" y="1353312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9"/>
          <p:cNvSpPr txBox="1"/>
          <p:nvPr/>
        </p:nvSpPr>
        <p:spPr>
          <a:xfrm>
            <a:off x="3364992" y="1728216"/>
            <a:ext cx="12710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FazyRV @ 0x1000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9"/>
          <p:cNvSpPr txBox="1"/>
          <p:nvPr/>
        </p:nvSpPr>
        <p:spPr>
          <a:xfrm>
            <a:off x="3364992" y="1993392"/>
            <a:ext cx="12710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RV32I assembly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shift/add MAC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result + sentinel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9"/>
          <p:cNvSpPr/>
          <p:nvPr/>
        </p:nvSpPr>
        <p:spPr>
          <a:xfrm>
            <a:off x="5029200" y="1170432"/>
            <a:ext cx="1600200" cy="15361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9"/>
          <p:cNvSpPr/>
          <p:nvPr/>
        </p:nvSpPr>
        <p:spPr>
          <a:xfrm>
            <a:off x="5193792" y="1353312"/>
            <a:ext cx="640080" cy="292608"/>
          </a:xfrm>
          <a:prstGeom prst="roundRect">
            <a:avLst>
              <a:gd fmla="val 16667" name="adj"/>
            </a:avLst>
          </a:prstGeom>
          <a:solidFill>
            <a:srgbClr val="FFAB40"/>
          </a:solidFill>
          <a:ln cap="flat" cmpd="sng" w="12700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9"/>
          <p:cNvSpPr txBox="1"/>
          <p:nvPr/>
        </p:nvSpPr>
        <p:spPr>
          <a:xfrm>
            <a:off x="5193792" y="1353312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9"/>
          <p:cNvSpPr txBox="1"/>
          <p:nvPr/>
        </p:nvSpPr>
        <p:spPr>
          <a:xfrm>
            <a:off x="5193792" y="1728216"/>
            <a:ext cx="12710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SERV @ 0x2000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9"/>
          <p:cNvSpPr txBox="1"/>
          <p:nvPr/>
        </p:nvSpPr>
        <p:spPr>
          <a:xfrm>
            <a:off x="5193792" y="1993392"/>
            <a:ext cx="12710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RV32I assembly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sensor/CRC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result + sentinel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9"/>
          <p:cNvSpPr/>
          <p:nvPr/>
        </p:nvSpPr>
        <p:spPr>
          <a:xfrm>
            <a:off x="6858000" y="1170432"/>
            <a:ext cx="1783080" cy="15361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9"/>
          <p:cNvSpPr txBox="1"/>
          <p:nvPr/>
        </p:nvSpPr>
        <p:spPr>
          <a:xfrm>
            <a:off x="7022592" y="1298448"/>
            <a:ext cx="14538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Build evidence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9"/>
          <p:cNvSpPr/>
          <p:nvPr/>
        </p:nvSpPr>
        <p:spPr>
          <a:xfrm>
            <a:off x="7022592" y="1664208"/>
            <a:ext cx="658368" cy="74980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9"/>
          <p:cNvSpPr txBox="1"/>
          <p:nvPr/>
        </p:nvSpPr>
        <p:spPr>
          <a:xfrm>
            <a:off x="7132320" y="1737360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1492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9"/>
          <p:cNvSpPr txBox="1"/>
          <p:nvPr/>
        </p:nvSpPr>
        <p:spPr>
          <a:xfrm>
            <a:off x="7132320" y="2066544"/>
            <a:ext cx="4389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main 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9"/>
          <p:cNvSpPr/>
          <p:nvPr/>
        </p:nvSpPr>
        <p:spPr>
          <a:xfrm>
            <a:off x="7790687" y="1664208"/>
            <a:ext cx="658368" cy="74980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9"/>
          <p:cNvSpPr txBox="1"/>
          <p:nvPr/>
        </p:nvSpPr>
        <p:spPr>
          <a:xfrm>
            <a:off x="7900415" y="1737360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2348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9"/>
          <p:cNvSpPr txBox="1"/>
          <p:nvPr/>
        </p:nvSpPr>
        <p:spPr>
          <a:xfrm>
            <a:off x="7900415" y="2066544"/>
            <a:ext cx="4389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demo 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9"/>
          <p:cNvSpPr txBox="1"/>
          <p:nvPr/>
        </p:nvSpPr>
        <p:spPr>
          <a:xfrm>
            <a:off x="6967728" y="2432303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ELF + HEX built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RV32 GCC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9"/>
          <p:cNvSpPr/>
          <p:nvPr/>
        </p:nvSpPr>
        <p:spPr>
          <a:xfrm>
            <a:off x="3200400" y="2962656"/>
            <a:ext cx="5440680" cy="160934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9"/>
          <p:cNvSpPr txBox="1"/>
          <p:nvPr/>
        </p:nvSpPr>
        <p:spPr>
          <a:xfrm>
            <a:off x="3364992" y="3090672"/>
            <a:ext cx="51114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Scheduling demonstration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9"/>
          <p:cNvSpPr/>
          <p:nvPr/>
        </p:nvSpPr>
        <p:spPr>
          <a:xfrm>
            <a:off x="3429000" y="3456432"/>
            <a:ext cx="1143000" cy="292608"/>
          </a:xfrm>
          <a:prstGeom prst="roundRect">
            <a:avLst>
              <a:gd fmla="val 16667" name="adj"/>
            </a:avLst>
          </a:prstGeom>
          <a:solidFill>
            <a:srgbClr val="4285F4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9"/>
          <p:cNvSpPr txBox="1"/>
          <p:nvPr/>
        </p:nvSpPr>
        <p:spPr>
          <a:xfrm>
            <a:off x="3429000" y="3456432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9"/>
          <p:cNvSpPr txBox="1"/>
          <p:nvPr/>
        </p:nvSpPr>
        <p:spPr>
          <a:xfrm>
            <a:off x="3355848" y="3831336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fixed target assignment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9"/>
          <p:cNvSpPr/>
          <p:nvPr/>
        </p:nvSpPr>
        <p:spPr>
          <a:xfrm>
            <a:off x="5093208" y="3456432"/>
            <a:ext cx="1143000" cy="292608"/>
          </a:xfrm>
          <a:prstGeom prst="roundRect">
            <a:avLst>
              <a:gd fmla="val 16667" name="adj"/>
            </a:avLst>
          </a:prstGeom>
          <a:solidFill>
            <a:srgbClr val="0097A7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9"/>
          <p:cNvSpPr txBox="1"/>
          <p:nvPr/>
        </p:nvSpPr>
        <p:spPr>
          <a:xfrm>
            <a:off x="5093208" y="3456432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DYNAMIC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9"/>
          <p:cNvSpPr txBox="1"/>
          <p:nvPr/>
        </p:nvSpPr>
        <p:spPr>
          <a:xfrm>
            <a:off x="5020056" y="3831336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CPI-based core selection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9"/>
          <p:cNvSpPr/>
          <p:nvPr/>
        </p:nvSpPr>
        <p:spPr>
          <a:xfrm>
            <a:off x="6757416" y="3456432"/>
            <a:ext cx="1143000" cy="292608"/>
          </a:xfrm>
          <a:prstGeom prst="roundRect">
            <a:avLst>
              <a:gd fmla="val 16667" name="adj"/>
            </a:avLst>
          </a:prstGeom>
          <a:solidFill>
            <a:srgbClr val="FFAB40"/>
          </a:solidFill>
          <a:ln cap="flat" cmpd="sng" w="12700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9"/>
          <p:cNvSpPr txBox="1"/>
          <p:nvPr/>
        </p:nvSpPr>
        <p:spPr>
          <a:xfrm>
            <a:off x="6757416" y="3456432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POWER AWARE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9"/>
          <p:cNvSpPr txBox="1"/>
          <p:nvPr/>
        </p:nvSpPr>
        <p:spPr>
          <a:xfrm>
            <a:off x="6684264" y="3831336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energy-budget consolidation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6" name="Google Shape;466;p9"/>
          <p:cNvCxnSpPr/>
          <p:nvPr/>
        </p:nvCxnSpPr>
        <p:spPr>
          <a:xfrm>
            <a:off x="502920" y="4910328"/>
            <a:ext cx="8138160" cy="0"/>
          </a:xfrm>
          <a:prstGeom prst="straightConnector1">
            <a:avLst/>
          </a:prstGeom>
          <a:noFill/>
          <a:ln cap="flat" cmpd="sng" w="15225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67" name="Google Shape;467;p9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D15 · MOSAIC-SoC · Chipathon 2026 Schematic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9"/>
          <p:cNvSpPr txBox="1"/>
          <p:nvPr/>
        </p:nvSpPr>
        <p:spPr>
          <a:xfrm>
            <a:off x="8046720" y="4919471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0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9. Schematic Summary —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0"/>
          <p:cNvSpPr txBox="1"/>
          <p:nvPr/>
        </p:nvSpPr>
        <p:spPr>
          <a:xfrm>
            <a:off x="585216" y="799697"/>
            <a:ext cx="7956358" cy="17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Top-level block diagram adapted from the X-HEEP diagram; MOSAIC additions are tagged : PoC configuration shown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0"/>
          <p:cNvSpPr/>
          <p:nvPr/>
        </p:nvSpPr>
        <p:spPr>
          <a:xfrm>
            <a:off x="7589520" y="320040"/>
            <a:ext cx="960120" cy="29260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F4F7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0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SCHEMATIC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osaic_soc_architecture_slide.png" id="478" name="Google Shape;47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048" y="1024128"/>
            <a:ext cx="5455402" cy="3822191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10"/>
          <p:cNvSpPr/>
          <p:nvPr/>
        </p:nvSpPr>
        <p:spPr>
          <a:xfrm>
            <a:off x="6053328" y="1143000"/>
            <a:ext cx="2606040" cy="358444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0"/>
          <p:cNvSpPr txBox="1"/>
          <p:nvPr/>
        </p:nvSpPr>
        <p:spPr>
          <a:xfrm>
            <a:off x="6217920" y="1271016"/>
            <a:ext cx="22768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Reading the diagram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0"/>
          <p:cNvSpPr txBox="1"/>
          <p:nvPr/>
        </p:nvSpPr>
        <p:spPr>
          <a:xfrm>
            <a:off x="6263640" y="1591056"/>
            <a:ext cx="2221127" cy="173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• X-HEEP skeleton kept: memory, debug, peripheral and AO subsystems on one bus; S/M port convention.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• MOSAIC additions tagged: heterogeneous tiers behind SCI wrappers, TDU @ 0x200A0000, iDMA.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• Dashed teal core_wake[]: the TDU wakes dormant ATLAS / NANO harts through the SCI wrappers.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• EXT MEM IF is dashed: the off-chip memory port for the Chipathon tapeout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2" name="Google Shape;482;p10"/>
          <p:cNvCxnSpPr/>
          <p:nvPr/>
        </p:nvCxnSpPr>
        <p:spPr>
          <a:xfrm>
            <a:off x="502920" y="4910328"/>
            <a:ext cx="8138160" cy="0"/>
          </a:xfrm>
          <a:prstGeom prst="straightConnector1">
            <a:avLst/>
          </a:prstGeom>
          <a:noFill/>
          <a:ln cap="flat" cmpd="sng" w="15225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83" name="Google Shape;483;p10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D15 · MOSAIC-SoC · Chipathon 2026 Schematic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0"/>
          <p:cNvSpPr txBox="1"/>
          <p:nvPr/>
        </p:nvSpPr>
        <p:spPr>
          <a:xfrm>
            <a:off x="8046720" y="4919471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1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9. Schematic Summary —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1"/>
          <p:cNvSpPr txBox="1"/>
          <p:nvPr/>
        </p:nvSpPr>
        <p:spPr>
          <a:xfrm>
            <a:off x="585216" y="749808"/>
            <a:ext cx="79552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Hierarchical RTL view and the principal interface contracts that require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1"/>
          <p:cNvSpPr/>
          <p:nvPr/>
        </p:nvSpPr>
        <p:spPr>
          <a:xfrm>
            <a:off x="7589520" y="320040"/>
            <a:ext cx="960120" cy="29260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F4F7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1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SCHEMATIC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4" name="Google Shape;494;p11"/>
          <p:cNvGraphicFramePr/>
          <p:nvPr/>
        </p:nvGraphicFramePr>
        <p:xfrm>
          <a:off x="411480" y="1143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{8B9BC38D-3093-48FA-9D67-E6F0C5B9224D}</a:tableStyleId>
              </a:tblPr>
              <a:tblGrid>
                <a:gridCol w="1325875"/>
                <a:gridCol w="2103125"/>
                <a:gridCol w="2240275"/>
                <a:gridCol w="2651750"/>
              </a:tblGrid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Hierarchy / block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4450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Function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4450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Primary interfaces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4450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source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44505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core_v_mini_mcu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Top-level MCU + generated multicore subsystem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clk/reset · pads · OBI · interrupts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hw/core-v-mini-mcu/*.sv.tpl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cpu_subsystem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Instantiates all configured harts and SCI wrappers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OBI I/D per hart · hart ID · wake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cpu_subsystem.sv.tpl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SCI wrappers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Core-bus conversion and dormancy/wake behavior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Wishbone/req-gnt ↔ OBI 1.3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hw/sci/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system_bus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Generated multi-master address decode and arbitration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OBI N×M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core_v_mini_mcu_pkg.sv.tpl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TDU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Task FIFO, per-hart wake, counters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AO register bus · core_wake[]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hw/tdu/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iDMA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Memory-to-memory transfer engine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 FE · native OBI backend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hw/vendor/mosaic/idma/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 / OpenRAM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Logical banks plus pending GF180 macro replacement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OBI bank ports · VDD/GND views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sw/vendor/openram/ + flow/librelane/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chip wrapper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GF180 pads and SoC pin adapter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pad buses · VDD/VSS · clk/reset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flow/librelane/src/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cxnSp>
        <p:nvCxnSpPr>
          <p:cNvPr id="495" name="Google Shape;495;p11"/>
          <p:cNvCxnSpPr/>
          <p:nvPr/>
        </p:nvCxnSpPr>
        <p:spPr>
          <a:xfrm>
            <a:off x="502920" y="4910328"/>
            <a:ext cx="8138160" cy="0"/>
          </a:xfrm>
          <a:prstGeom prst="straightConnector1">
            <a:avLst/>
          </a:prstGeom>
          <a:noFill/>
          <a:ln cap="flat" cmpd="sng" w="15225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96" name="Google Shape;496;p11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D15 · MOSAIC-SoC · Chipathon 2026 Schematic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1"/>
          <p:cNvSpPr txBox="1"/>
          <p:nvPr/>
        </p:nvSpPr>
        <p:spPr>
          <a:xfrm>
            <a:off x="8046720" y="4919471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2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10. OpenRAM &amp; SRAM Physicalization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2"/>
          <p:cNvSpPr txBox="1"/>
          <p:nvPr/>
        </p:nvSpPr>
        <p:spPr>
          <a:xfrm>
            <a:off x="585216" y="799697"/>
            <a:ext cx="7956358" cy="17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GF180 tech/config code and LibreLane hooks exist; macros not generated , the 2026 die uses external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7589520" y="320040"/>
            <a:ext cx="960120" cy="29260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F4F7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2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2"/>
          <p:cNvSpPr/>
          <p:nvPr/>
        </p:nvSpPr>
        <p:spPr>
          <a:xfrm>
            <a:off x="320040" y="1170432"/>
            <a:ext cx="1572768" cy="11155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448056" y="1325880"/>
            <a:ext cx="310896" cy="292608"/>
          </a:xfrm>
          <a:prstGeom prst="roundRect">
            <a:avLst>
              <a:gd fmla="val 16667" name="adj"/>
            </a:avLst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2"/>
          <p:cNvSpPr txBox="1"/>
          <p:nvPr/>
        </p:nvSpPr>
        <p:spPr>
          <a:xfrm>
            <a:off x="448056" y="1325880"/>
            <a:ext cx="310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2"/>
          <p:cNvSpPr txBox="1"/>
          <p:nvPr/>
        </p:nvSpPr>
        <p:spPr>
          <a:xfrm>
            <a:off x="841247" y="1307592"/>
            <a:ext cx="896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GF180 port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2"/>
          <p:cNvSpPr txBox="1"/>
          <p:nvPr/>
        </p:nvSpPr>
        <p:spPr>
          <a:xfrm>
            <a:off x="466344" y="1682496"/>
            <a:ext cx="1280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tech.py · 3.3 V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layers · DRC estimates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2" name="Google Shape;512;p12"/>
          <p:cNvCxnSpPr/>
          <p:nvPr/>
        </p:nvCxnSpPr>
        <p:spPr>
          <a:xfrm>
            <a:off x="1892807" y="1728216"/>
            <a:ext cx="164593" cy="0"/>
          </a:xfrm>
          <a:prstGeom prst="straightConnector1">
            <a:avLst/>
          </a:prstGeom>
          <a:noFill/>
          <a:ln cap="flat" cmpd="sng" w="17775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13" name="Google Shape;513;p12"/>
          <p:cNvSpPr/>
          <p:nvPr/>
        </p:nvSpPr>
        <p:spPr>
          <a:xfrm>
            <a:off x="2075688" y="1170432"/>
            <a:ext cx="1572768" cy="11155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2203704" y="1325880"/>
            <a:ext cx="310896" cy="292608"/>
          </a:xfrm>
          <a:prstGeom prst="roundRect">
            <a:avLst>
              <a:gd fmla="val 16667" name="adj"/>
            </a:avLst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2"/>
          <p:cNvSpPr txBox="1"/>
          <p:nvPr/>
        </p:nvSpPr>
        <p:spPr>
          <a:xfrm>
            <a:off x="2203704" y="1325880"/>
            <a:ext cx="310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2"/>
          <p:cNvSpPr txBox="1"/>
          <p:nvPr/>
        </p:nvSpPr>
        <p:spPr>
          <a:xfrm>
            <a:off x="2596896" y="1307592"/>
            <a:ext cx="896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Macro configs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2"/>
          <p:cNvSpPr txBox="1"/>
          <p:nvPr/>
        </p:nvSpPr>
        <p:spPr>
          <a:xfrm>
            <a:off x="2221992" y="1682496"/>
            <a:ext cx="1280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4k.py / 32k.py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configs added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8" name="Google Shape;518;p12"/>
          <p:cNvCxnSpPr/>
          <p:nvPr/>
        </p:nvCxnSpPr>
        <p:spPr>
          <a:xfrm>
            <a:off x="3648456" y="1728216"/>
            <a:ext cx="164592" cy="0"/>
          </a:xfrm>
          <a:prstGeom prst="straightConnector1">
            <a:avLst/>
          </a:prstGeom>
          <a:noFill/>
          <a:ln cap="flat" cmpd="sng" w="17775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19" name="Google Shape;519;p12"/>
          <p:cNvSpPr/>
          <p:nvPr/>
        </p:nvSpPr>
        <p:spPr>
          <a:xfrm>
            <a:off x="3831335" y="1170432"/>
            <a:ext cx="1572768" cy="11155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3959351" y="1325880"/>
            <a:ext cx="310896" cy="292608"/>
          </a:xfrm>
          <a:prstGeom prst="roundRect">
            <a:avLst>
              <a:gd fmla="val 16667" name="adj"/>
            </a:avLst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2"/>
          <p:cNvSpPr txBox="1"/>
          <p:nvPr/>
        </p:nvSpPr>
        <p:spPr>
          <a:xfrm>
            <a:off x="3959351" y="1325880"/>
            <a:ext cx="310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2"/>
          <p:cNvSpPr txBox="1"/>
          <p:nvPr/>
        </p:nvSpPr>
        <p:spPr>
          <a:xfrm>
            <a:off x="4352544" y="1307592"/>
            <a:ext cx="896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Macro outputs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2"/>
          <p:cNvSpPr txBox="1"/>
          <p:nvPr/>
        </p:nvSpPr>
        <p:spPr>
          <a:xfrm>
            <a:off x="3977639" y="1682496"/>
            <a:ext cx="1280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GDS / LEF / LIB /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SPICE absent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4" name="Google Shape;524;p12"/>
          <p:cNvCxnSpPr/>
          <p:nvPr/>
        </p:nvCxnSpPr>
        <p:spPr>
          <a:xfrm>
            <a:off x="5404103" y="1728216"/>
            <a:ext cx="164593" cy="0"/>
          </a:xfrm>
          <a:prstGeom prst="straightConnector1">
            <a:avLst/>
          </a:prstGeom>
          <a:noFill/>
          <a:ln cap="flat" cmpd="sng" w="17775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25" name="Google Shape;525;p12"/>
          <p:cNvSpPr/>
          <p:nvPr/>
        </p:nvSpPr>
        <p:spPr>
          <a:xfrm>
            <a:off x="5586983" y="1170432"/>
            <a:ext cx="1572768" cy="11155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B26A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2"/>
          <p:cNvSpPr/>
          <p:nvPr/>
        </p:nvSpPr>
        <p:spPr>
          <a:xfrm>
            <a:off x="5714999" y="1325880"/>
            <a:ext cx="310896" cy="292608"/>
          </a:xfrm>
          <a:prstGeom prst="roundRect">
            <a:avLst>
              <a:gd fmla="val 16667" name="adj"/>
            </a:avLst>
          </a:prstGeom>
          <a:solidFill>
            <a:srgbClr val="B26A00"/>
          </a:solidFill>
          <a:ln cap="flat" cmpd="sng" w="12700">
            <a:solidFill>
              <a:srgbClr val="B26A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2"/>
          <p:cNvSpPr txBox="1"/>
          <p:nvPr/>
        </p:nvSpPr>
        <p:spPr>
          <a:xfrm>
            <a:off x="5714999" y="1325880"/>
            <a:ext cx="310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2"/>
          <p:cNvSpPr txBox="1"/>
          <p:nvPr/>
        </p:nvSpPr>
        <p:spPr>
          <a:xfrm>
            <a:off x="6108192" y="1307592"/>
            <a:ext cx="896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LibreLane hooks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2"/>
          <p:cNvSpPr txBox="1"/>
          <p:nvPr/>
        </p:nvSpPr>
        <p:spPr>
          <a:xfrm>
            <a:off x="5733288" y="1682496"/>
            <a:ext cx="1280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MACROS · placement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PDN grid / connections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0" name="Google Shape;530;p12"/>
          <p:cNvCxnSpPr/>
          <p:nvPr/>
        </p:nvCxnSpPr>
        <p:spPr>
          <a:xfrm>
            <a:off x="7159751" y="1728216"/>
            <a:ext cx="164593" cy="0"/>
          </a:xfrm>
          <a:prstGeom prst="straightConnector1">
            <a:avLst/>
          </a:prstGeom>
          <a:noFill/>
          <a:ln cap="flat" cmpd="sng" w="17775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31" name="Google Shape;531;p12"/>
          <p:cNvSpPr/>
          <p:nvPr/>
        </p:nvSpPr>
        <p:spPr>
          <a:xfrm>
            <a:off x="7342631" y="1170432"/>
            <a:ext cx="1572768" cy="11155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2"/>
          <p:cNvSpPr/>
          <p:nvPr/>
        </p:nvSpPr>
        <p:spPr>
          <a:xfrm>
            <a:off x="7470648" y="1325880"/>
            <a:ext cx="310896" cy="292608"/>
          </a:xfrm>
          <a:prstGeom prst="roundRect">
            <a:avLst>
              <a:gd fmla="val 16667" name="adj"/>
            </a:avLst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2"/>
          <p:cNvSpPr txBox="1"/>
          <p:nvPr/>
        </p:nvSpPr>
        <p:spPr>
          <a:xfrm>
            <a:off x="7470648" y="1325880"/>
            <a:ext cx="310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2"/>
          <p:cNvSpPr txBox="1"/>
          <p:nvPr/>
        </p:nvSpPr>
        <p:spPr>
          <a:xfrm>
            <a:off x="7863840" y="1307592"/>
            <a:ext cx="896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Mapped signoff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2"/>
          <p:cNvSpPr txBox="1"/>
          <p:nvPr/>
        </p:nvSpPr>
        <p:spPr>
          <a:xfrm>
            <a:off x="7488936" y="1682496"/>
            <a:ext cx="1280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binding · STA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DRC / LVS / antenna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2"/>
          <p:cNvSpPr/>
          <p:nvPr/>
        </p:nvSpPr>
        <p:spPr>
          <a:xfrm>
            <a:off x="502920" y="2578608"/>
            <a:ext cx="3977639" cy="1947671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2"/>
          <p:cNvSpPr txBox="1"/>
          <p:nvPr/>
        </p:nvSpPr>
        <p:spPr>
          <a:xfrm>
            <a:off x="667512" y="2727443"/>
            <a:ext cx="3659976" cy="244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Capacity audit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38" name="Google Shape;538;p12"/>
          <p:cNvGraphicFramePr/>
          <p:nvPr/>
        </p:nvGraphicFramePr>
        <p:xfrm>
          <a:off x="713232" y="30632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{8B9BC38D-3093-48FA-9D67-E6F0C5B9224D}</a:tableStyleId>
              </a:tblPr>
              <a:tblGrid>
                <a:gridCol w="1325875"/>
                <a:gridCol w="1234450"/>
                <a:gridCol w="1005850"/>
              </a:tblGrid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 / label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Configured geometry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Actual capacity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AB40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mosaic_sram_4k.py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512 × 8 bits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512 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mosaic_sram_32k.py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4096 × 8 bits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KB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Required 4 KB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4096 × 8 bits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KB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Required 32 KB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32768 × 8 bits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 KB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39" name="Google Shape;539;p12"/>
          <p:cNvSpPr/>
          <p:nvPr/>
        </p:nvSpPr>
        <p:spPr>
          <a:xfrm>
            <a:off x="4709160" y="2578608"/>
            <a:ext cx="4023360" cy="1947671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2"/>
          <p:cNvSpPr txBox="1"/>
          <p:nvPr/>
        </p:nvSpPr>
        <p:spPr>
          <a:xfrm>
            <a:off x="4873752" y="2706624"/>
            <a:ext cx="3694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On-chip SRAM: close before a future run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2"/>
          <p:cNvSpPr txBox="1"/>
          <p:nvPr/>
        </p:nvSpPr>
        <p:spPr>
          <a:xfrm>
            <a:off x="4937760" y="3063240"/>
            <a:ext cx="356616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• Correct the byte-capacity configurations and choose the future on-chip memory size.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• Obtain/validate bitcell and peripheral cells; generate characterized GDS/LEF/LIB/SPICE/Verilog.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• Align GND/VSS naming, macro instance binding, placement, PDN, and RTL memory wrapper.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• Re-run area and timing; current 0.05 / 0.3-0.6 mm² values are estimates only.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2" name="Google Shape;542;p12"/>
          <p:cNvCxnSpPr/>
          <p:nvPr/>
        </p:nvCxnSpPr>
        <p:spPr>
          <a:xfrm>
            <a:off x="502920" y="4910328"/>
            <a:ext cx="8138160" cy="0"/>
          </a:xfrm>
          <a:prstGeom prst="straightConnector1">
            <a:avLst/>
          </a:prstGeom>
          <a:noFill/>
          <a:ln cap="flat" cmpd="sng" w="15225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43" name="Google Shape;543;p12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D15 · MOSAIC-SoC · Chipathon 2026 Schematic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2"/>
          <p:cNvSpPr txBox="1"/>
          <p:nvPr/>
        </p:nvSpPr>
        <p:spPr>
          <a:xfrm>
            <a:off x="8046720" y="4919471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3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11. Design Assumptions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3"/>
          <p:cNvSpPr txBox="1"/>
          <p:nvPr/>
        </p:nvSpPr>
        <p:spPr>
          <a:xfrm>
            <a:off x="585216" y="749808"/>
            <a:ext cx="79552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Known constraints are separated from items that still require confirmation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3"/>
          <p:cNvSpPr/>
          <p:nvPr/>
        </p:nvSpPr>
        <p:spPr>
          <a:xfrm>
            <a:off x="7589520" y="320040"/>
            <a:ext cx="960120" cy="29260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F4F7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3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ASSUME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3"/>
          <p:cNvSpPr/>
          <p:nvPr/>
        </p:nvSpPr>
        <p:spPr>
          <a:xfrm>
            <a:off x="502920" y="1170432"/>
            <a:ext cx="3977639" cy="15727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3"/>
          <p:cNvSpPr/>
          <p:nvPr/>
        </p:nvSpPr>
        <p:spPr>
          <a:xfrm>
            <a:off x="685800" y="1325880"/>
            <a:ext cx="1325880" cy="292608"/>
          </a:xfrm>
          <a:prstGeom prst="roundRect">
            <a:avLst>
              <a:gd fmla="val 16667" name="adj"/>
            </a:avLst>
          </a:prstGeom>
          <a:solidFill>
            <a:srgbClr val="4285F4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3"/>
          <p:cNvSpPr txBox="1"/>
          <p:nvPr/>
        </p:nvSpPr>
        <p:spPr>
          <a:xfrm>
            <a:off x="685800" y="1325880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CLOCK &amp; RESET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3"/>
          <p:cNvSpPr txBox="1"/>
          <p:nvPr/>
        </p:nvSpPr>
        <p:spPr>
          <a:xfrm>
            <a:off x="704088" y="1728216"/>
            <a:ext cx="356616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• One external pad clock; current SDC target is 50 MHz / 20 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• Worker-core clocks may stall or gate during dormancy and outstanding serial-core transactions.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• Derived/gated-clock constraints and reset-domain checks are not yet signoff-complete.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3"/>
          <p:cNvSpPr/>
          <p:nvPr/>
        </p:nvSpPr>
        <p:spPr>
          <a:xfrm>
            <a:off x="4690872" y="1170432"/>
            <a:ext cx="3977639" cy="15727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3"/>
          <p:cNvSpPr/>
          <p:nvPr/>
        </p:nvSpPr>
        <p:spPr>
          <a:xfrm>
            <a:off x="4873752" y="1325880"/>
            <a:ext cx="1325880" cy="292608"/>
          </a:xfrm>
          <a:prstGeom prst="roundRect">
            <a:avLst>
              <a:gd fmla="val 16667" name="adj"/>
            </a:avLst>
          </a:prstGeom>
          <a:solidFill>
            <a:srgbClr val="0097A7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3"/>
          <p:cNvSpPr txBox="1"/>
          <p:nvPr/>
        </p:nvSpPr>
        <p:spPr>
          <a:xfrm>
            <a:off x="4873752" y="1325880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&amp; BUS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3"/>
          <p:cNvSpPr txBox="1"/>
          <p:nvPr/>
        </p:nvSpPr>
        <p:spPr>
          <a:xfrm>
            <a:off x="4892039" y="1728216"/>
            <a:ext cx="3566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• 32 KB logical SRAM plus 2 KB boot ROM; bank count and addresses are generated.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• OBI 1.3 is the internal contract; SCI wrappers absorb native core-bus differences.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• OpenRAM files are port/config scaffolding only;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3"/>
          <p:cNvSpPr/>
          <p:nvPr/>
        </p:nvSpPr>
        <p:spPr>
          <a:xfrm>
            <a:off x="502920" y="2889504"/>
            <a:ext cx="3977639" cy="15727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3"/>
          <p:cNvSpPr/>
          <p:nvPr/>
        </p:nvSpPr>
        <p:spPr>
          <a:xfrm>
            <a:off x="685800" y="3044952"/>
            <a:ext cx="1325880" cy="292608"/>
          </a:xfrm>
          <a:prstGeom prst="roundRect">
            <a:avLst>
              <a:gd fmla="val 16667" name="adj"/>
            </a:avLst>
          </a:prstGeom>
          <a:solidFill>
            <a:srgbClr val="FFAB40"/>
          </a:solidFill>
          <a:ln cap="flat" cmpd="sng" w="12700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3"/>
          <p:cNvSpPr txBox="1"/>
          <p:nvPr/>
        </p:nvSpPr>
        <p:spPr>
          <a:xfrm>
            <a:off x="685800" y="3044952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POWER &amp; I/O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3"/>
          <p:cNvSpPr txBox="1"/>
          <p:nvPr/>
        </p:nvSpPr>
        <p:spPr>
          <a:xfrm>
            <a:off x="704088" y="3447288"/>
            <a:ext cx="356616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• Current chip flow exposes VDD/VSS; OpenRAM code uses VDD/GND and requires pin-name reconciliation.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• TITAN boots; ATLAS/NANO workers start dormant and wake via TDU.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• Final I/O voltage/domain assignment, pad order, bonding map, and pad-to-SoC binding need review.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3"/>
          <p:cNvSpPr/>
          <p:nvPr/>
        </p:nvSpPr>
        <p:spPr>
          <a:xfrm>
            <a:off x="4690872" y="2889504"/>
            <a:ext cx="3977639" cy="15727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3"/>
          <p:cNvSpPr/>
          <p:nvPr/>
        </p:nvSpPr>
        <p:spPr>
          <a:xfrm>
            <a:off x="4873752" y="3044952"/>
            <a:ext cx="1325880" cy="292608"/>
          </a:xfrm>
          <a:prstGeom prst="roundRect">
            <a:avLst>
              <a:gd fmla="val 16667" name="adj"/>
            </a:avLst>
          </a:prstGeom>
          <a:solidFill>
            <a:srgbClr val="78909C"/>
          </a:solidFill>
          <a:ln cap="flat" cmpd="sng" w="12700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13"/>
          <p:cNvSpPr txBox="1"/>
          <p:nvPr/>
        </p:nvSpPr>
        <p:spPr>
          <a:xfrm>
            <a:off x="4873752" y="3044952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VERIFICATION BOUNDARY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3"/>
          <p:cNvSpPr txBox="1"/>
          <p:nvPr/>
        </p:nvSpPr>
        <p:spPr>
          <a:xfrm>
            <a:off x="4892039" y="3447288"/>
            <a:ext cx="356616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• Simulation proves selected functional paths; it is not physical signoff.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• New firmware builds but has not replaced the legacy assembly program in the full-SoC test.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• The harness is implemented, but deterministic EDA outputs still require independent tool evidence.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0" name="Google Shape;570;p13"/>
          <p:cNvCxnSpPr/>
          <p:nvPr/>
        </p:nvCxnSpPr>
        <p:spPr>
          <a:xfrm>
            <a:off x="502920" y="4910328"/>
            <a:ext cx="8138160" cy="0"/>
          </a:xfrm>
          <a:prstGeom prst="straightConnector1">
            <a:avLst/>
          </a:prstGeom>
          <a:noFill/>
          <a:ln cap="flat" cmpd="sng" w="15225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71" name="Google Shape;571;p13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D15 · MOSAIC-SoC · Chipathon 2026 Schematic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3"/>
          <p:cNvSpPr txBox="1"/>
          <p:nvPr/>
        </p:nvSpPr>
        <p:spPr>
          <a:xfrm>
            <a:off x="8046720" y="4919471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4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12. Verification Status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4"/>
          <p:cNvSpPr txBox="1"/>
          <p:nvPr/>
        </p:nvSpPr>
        <p:spPr>
          <a:xfrm>
            <a:off x="585216" y="749808"/>
            <a:ext cx="79552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Latest software additions are separated into build/smoke evidence versus integrated execution and physical signoff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4"/>
          <p:cNvSpPr/>
          <p:nvPr/>
        </p:nvSpPr>
        <p:spPr>
          <a:xfrm>
            <a:off x="7589520" y="320040"/>
            <a:ext cx="960120" cy="29260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F4F7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4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VERIFY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82" name="Google Shape;582;p14"/>
          <p:cNvGraphicFramePr/>
          <p:nvPr/>
        </p:nvGraphicFramePr>
        <p:xfrm>
          <a:off x="411480" y="11247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{8B9BC38D-3093-48FA-9D67-E6F0C5B9224D}</a:tableStyleId>
              </a:tblPr>
              <a:tblGrid>
                <a:gridCol w="1828800"/>
                <a:gridCol w="4617725"/>
                <a:gridCol w="1005850"/>
              </a:tblGrid>
              <a:tr h="35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Verification item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4450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Evidence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4450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44505A"/>
                    </a:solidFill>
                  </a:tcPr>
                </a:tc>
              </a:tr>
              <a:tr h="35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Harness config/doc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validate, presets, flow list, dashboard and memory-map commands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2E7D32"/>
                    </a:solidFill>
                  </a:tcPr>
                </a:tc>
              </a:tr>
              <a:tr h="35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Firmware build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RV32I main/demo ELF+HEX; 1492 B / 2348 B text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2E7D32"/>
                    </a:solidFill>
                  </a:tcPr>
                </a:tc>
              </a:tr>
              <a:tr h="35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Full-SoC elaboration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Verilator lint-only; repository reports 837 modules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2E7D32"/>
                    </a:solidFill>
                  </a:tcPr>
                </a:tc>
              </a:tr>
              <a:tr h="35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3-core wake-and-run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cv32e20 wakes FazyRV + SERV; both write sentinels; EXIT SUCCESS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2E7D32"/>
                    </a:solidFill>
                  </a:tcPr>
                </a:tc>
              </a:tr>
              <a:tr h="35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TDU + iDMA + SCI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Existing unit/SoC/cocotb regressions report PASS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2E7D32"/>
                    </a:solidFill>
                  </a:tcPr>
                </a:tc>
              </a:tr>
              <a:tr h="35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Harness flow execution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firmware flow fails under current space-containing repo path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PARTIAL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B26A00"/>
                    </a:solidFill>
                  </a:tcPr>
                </a:tc>
              </a:tr>
              <a:tr h="35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OpenRAM macros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Port/config/hooks exist; no GDS/LEF/LIB/SPICE outputs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62828"/>
                    </a:solidFill>
                  </a:tcPr>
                </a:tc>
              </a:tr>
              <a:tr h="35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GF180 signoff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Pin binding, mapped SRAM, STA, DRC/LVS/antenna incomplete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583" name="Google Shape;583;p14"/>
          <p:cNvSpPr/>
          <p:nvPr/>
        </p:nvSpPr>
        <p:spPr>
          <a:xfrm>
            <a:off x="8028430" y="1124711"/>
            <a:ext cx="810556" cy="353872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14"/>
          <p:cNvSpPr txBox="1"/>
          <p:nvPr/>
        </p:nvSpPr>
        <p:spPr>
          <a:xfrm>
            <a:off x="8138160" y="1353312"/>
            <a:ext cx="605091" cy="1375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4"/>
          <p:cNvSpPr/>
          <p:nvPr/>
        </p:nvSpPr>
        <p:spPr>
          <a:xfrm>
            <a:off x="8156448" y="1755648"/>
            <a:ext cx="438912" cy="292608"/>
          </a:xfrm>
          <a:prstGeom prst="roundRect">
            <a:avLst>
              <a:gd fmla="val 16667" name="adj"/>
            </a:avLst>
          </a:prstGeom>
          <a:solidFill>
            <a:srgbClr val="78909C"/>
          </a:solidFill>
          <a:ln cap="flat" cmpd="sng" w="12700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14"/>
          <p:cNvSpPr txBox="1"/>
          <p:nvPr/>
        </p:nvSpPr>
        <p:spPr>
          <a:xfrm>
            <a:off x="8156448" y="1755648"/>
            <a:ext cx="4389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4"/>
          <p:cNvSpPr txBox="1"/>
          <p:nvPr/>
        </p:nvSpPr>
        <p:spPr>
          <a:xfrm>
            <a:off x="8083296" y="2066543"/>
            <a:ext cx="585216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tb/mosaic_soc/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sim.log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4"/>
          <p:cNvSpPr/>
          <p:nvPr/>
        </p:nvSpPr>
        <p:spPr>
          <a:xfrm>
            <a:off x="8156448" y="2423160"/>
            <a:ext cx="438912" cy="292608"/>
          </a:xfrm>
          <a:prstGeom prst="roundRect">
            <a:avLst>
              <a:gd fmla="val 16667" name="adj"/>
            </a:avLst>
          </a:prstGeom>
          <a:solidFill>
            <a:srgbClr val="78909C"/>
          </a:solidFill>
          <a:ln cap="flat" cmpd="sng" w="12700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4"/>
          <p:cNvSpPr txBox="1"/>
          <p:nvPr/>
        </p:nvSpPr>
        <p:spPr>
          <a:xfrm>
            <a:off x="8156448" y="2423160"/>
            <a:ext cx="4389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4"/>
          <p:cNvSpPr txBox="1"/>
          <p:nvPr/>
        </p:nvSpPr>
        <p:spPr>
          <a:xfrm>
            <a:off x="8083296" y="2734056"/>
            <a:ext cx="585216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sw/firmware/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build/*.elf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14"/>
          <p:cNvSpPr/>
          <p:nvPr/>
        </p:nvSpPr>
        <p:spPr>
          <a:xfrm>
            <a:off x="8156448" y="3090672"/>
            <a:ext cx="438912" cy="292608"/>
          </a:xfrm>
          <a:prstGeom prst="roundRect">
            <a:avLst>
              <a:gd fmla="val 16667" name="adj"/>
            </a:avLst>
          </a:prstGeom>
          <a:solidFill>
            <a:srgbClr val="78909C"/>
          </a:solidFill>
          <a:ln cap="flat" cmpd="sng" w="12700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4"/>
          <p:cNvSpPr txBox="1"/>
          <p:nvPr/>
        </p:nvSpPr>
        <p:spPr>
          <a:xfrm>
            <a:off x="8156448" y="3090672"/>
            <a:ext cx="4389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4"/>
          <p:cNvSpPr txBox="1"/>
          <p:nvPr/>
        </p:nvSpPr>
        <p:spPr>
          <a:xfrm>
            <a:off x="8083296" y="3401568"/>
            <a:ext cx="585216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python -m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4"/>
          <p:cNvSpPr/>
          <p:nvPr/>
        </p:nvSpPr>
        <p:spPr>
          <a:xfrm>
            <a:off x="8156448" y="3758183"/>
            <a:ext cx="438912" cy="292608"/>
          </a:xfrm>
          <a:prstGeom prst="roundRect">
            <a:avLst>
              <a:gd fmla="val 16667" name="adj"/>
            </a:avLst>
          </a:prstGeom>
          <a:solidFill>
            <a:srgbClr val="78909C"/>
          </a:solidFill>
          <a:ln cap="flat" cmpd="sng" w="12700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4"/>
          <p:cNvSpPr txBox="1"/>
          <p:nvPr/>
        </p:nvSpPr>
        <p:spPr>
          <a:xfrm>
            <a:off x="8156448" y="3758183"/>
            <a:ext cx="4389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4"/>
          <p:cNvSpPr txBox="1"/>
          <p:nvPr/>
        </p:nvSpPr>
        <p:spPr>
          <a:xfrm>
            <a:off x="8083296" y="4069079"/>
            <a:ext cx="585216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sw/vendor/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openram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7" name="Google Shape;597;p14"/>
          <p:cNvCxnSpPr/>
          <p:nvPr/>
        </p:nvCxnSpPr>
        <p:spPr>
          <a:xfrm>
            <a:off x="502920" y="4910328"/>
            <a:ext cx="8138160" cy="0"/>
          </a:xfrm>
          <a:prstGeom prst="straightConnector1">
            <a:avLst/>
          </a:prstGeom>
          <a:noFill/>
          <a:ln cap="flat" cmpd="sng" w="15225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98" name="Google Shape;598;p14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D15 · MOSAIC-SoC · Chipathon 2026 Schematic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4"/>
          <p:cNvSpPr txBox="1"/>
          <p:nvPr/>
        </p:nvSpPr>
        <p:spPr>
          <a:xfrm>
            <a:off x="8046720" y="4919471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5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13. Design Checklist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5"/>
          <p:cNvSpPr txBox="1"/>
          <p:nvPr/>
        </p:nvSpPr>
        <p:spPr>
          <a:xfrm>
            <a:off x="585216" y="749808"/>
            <a:ext cx="79552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Required review categories mapped to current evidence and remaining actions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5"/>
          <p:cNvSpPr/>
          <p:nvPr/>
        </p:nvSpPr>
        <p:spPr>
          <a:xfrm>
            <a:off x="7589520" y="320040"/>
            <a:ext cx="960120" cy="29260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F4F7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15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CHECK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15"/>
          <p:cNvSpPr/>
          <p:nvPr/>
        </p:nvSpPr>
        <p:spPr>
          <a:xfrm>
            <a:off x="502920" y="1170432"/>
            <a:ext cx="3977639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5"/>
          <p:cNvSpPr txBox="1"/>
          <p:nvPr/>
        </p:nvSpPr>
        <p:spPr>
          <a:xfrm>
            <a:off x="704088" y="1316736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Functionality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5"/>
          <p:cNvSpPr/>
          <p:nvPr/>
        </p:nvSpPr>
        <p:spPr>
          <a:xfrm>
            <a:off x="3291839" y="1307592"/>
            <a:ext cx="960120" cy="292608"/>
          </a:xfrm>
          <a:prstGeom prst="roundRect">
            <a:avLst>
              <a:gd fmla="val 16667" name="adj"/>
            </a:avLst>
          </a:prstGeom>
          <a:solidFill>
            <a:srgbClr val="B26A00"/>
          </a:solidFill>
          <a:ln cap="flat" cmpd="sng" w="12700">
            <a:solidFill>
              <a:srgbClr val="B26A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15"/>
          <p:cNvSpPr txBox="1"/>
          <p:nvPr/>
        </p:nvSpPr>
        <p:spPr>
          <a:xfrm>
            <a:off x="3291839" y="1307592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5"/>
          <p:cNvSpPr txBox="1"/>
          <p:nvPr/>
        </p:nvSpPr>
        <p:spPr>
          <a:xfrm>
            <a:off x="704088" y="1636776"/>
            <a:ext cx="3547872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Legacy wake path passes; integrate the new firmware HEX and full 7-core workload.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5"/>
          <p:cNvSpPr/>
          <p:nvPr/>
        </p:nvSpPr>
        <p:spPr>
          <a:xfrm>
            <a:off x="4690872" y="1170432"/>
            <a:ext cx="3977639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5"/>
          <p:cNvSpPr txBox="1"/>
          <p:nvPr/>
        </p:nvSpPr>
        <p:spPr>
          <a:xfrm>
            <a:off x="4892039" y="1316736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Analog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5"/>
          <p:cNvSpPr/>
          <p:nvPr/>
        </p:nvSpPr>
        <p:spPr>
          <a:xfrm>
            <a:off x="7479792" y="1307592"/>
            <a:ext cx="960120" cy="292608"/>
          </a:xfrm>
          <a:prstGeom prst="roundRect">
            <a:avLst>
              <a:gd fmla="val 16667" name="adj"/>
            </a:avLst>
          </a:prstGeom>
          <a:solidFill>
            <a:srgbClr val="44505A"/>
          </a:solidFill>
          <a:ln cap="flat" cmpd="sng" w="12700">
            <a:solidFill>
              <a:srgbClr val="4450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5"/>
          <p:cNvSpPr txBox="1"/>
          <p:nvPr/>
        </p:nvSpPr>
        <p:spPr>
          <a:xfrm>
            <a:off x="7479792" y="1307592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15"/>
          <p:cNvSpPr txBox="1"/>
          <p:nvPr/>
        </p:nvSpPr>
        <p:spPr>
          <a:xfrm>
            <a:off x="4892039" y="1636776"/>
            <a:ext cx="3547872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Digital SoC; no custom analog IP. Review pad-library use and supply assumptions.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5"/>
          <p:cNvSpPr/>
          <p:nvPr/>
        </p:nvSpPr>
        <p:spPr>
          <a:xfrm>
            <a:off x="502920" y="2313432"/>
            <a:ext cx="3977639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15"/>
          <p:cNvSpPr txBox="1"/>
          <p:nvPr/>
        </p:nvSpPr>
        <p:spPr>
          <a:xfrm>
            <a:off x="704088" y="2459735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Digital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5"/>
          <p:cNvSpPr/>
          <p:nvPr/>
        </p:nvSpPr>
        <p:spPr>
          <a:xfrm>
            <a:off x="3291839" y="2450592"/>
            <a:ext cx="960120" cy="292608"/>
          </a:xfrm>
          <a:prstGeom prst="roundRect">
            <a:avLst>
              <a:gd fmla="val 16667" name="adj"/>
            </a:avLst>
          </a:prstGeom>
          <a:solidFill>
            <a:srgbClr val="B26A00"/>
          </a:solidFill>
          <a:ln cap="flat" cmpd="sng" w="12700">
            <a:solidFill>
              <a:srgbClr val="B26A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15"/>
          <p:cNvSpPr txBox="1"/>
          <p:nvPr/>
        </p:nvSpPr>
        <p:spPr>
          <a:xfrm>
            <a:off x="3291839" y="2450592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15"/>
          <p:cNvSpPr txBox="1"/>
          <p:nvPr/>
        </p:nvSpPr>
        <p:spPr>
          <a:xfrm>
            <a:off x="704088" y="2779776"/>
            <a:ext cx="3547872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RTL/harness/firmware code exists. Correct SRAM capacity, bind pins/macros, then synthesize and sign off.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15"/>
          <p:cNvSpPr/>
          <p:nvPr/>
        </p:nvSpPr>
        <p:spPr>
          <a:xfrm>
            <a:off x="4690872" y="2313432"/>
            <a:ext cx="3977639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15"/>
          <p:cNvSpPr txBox="1"/>
          <p:nvPr/>
        </p:nvSpPr>
        <p:spPr>
          <a:xfrm>
            <a:off x="4892039" y="2459735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Mixed Signal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15"/>
          <p:cNvSpPr/>
          <p:nvPr/>
        </p:nvSpPr>
        <p:spPr>
          <a:xfrm>
            <a:off x="7479792" y="2450592"/>
            <a:ext cx="960120" cy="292608"/>
          </a:xfrm>
          <a:prstGeom prst="roundRect">
            <a:avLst>
              <a:gd fmla="val 16667" name="adj"/>
            </a:avLst>
          </a:prstGeom>
          <a:solidFill>
            <a:srgbClr val="44505A"/>
          </a:solidFill>
          <a:ln cap="flat" cmpd="sng" w="12700">
            <a:solidFill>
              <a:srgbClr val="4450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15"/>
          <p:cNvSpPr txBox="1"/>
          <p:nvPr/>
        </p:nvSpPr>
        <p:spPr>
          <a:xfrm>
            <a:off x="7479792" y="2450592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15"/>
          <p:cNvSpPr txBox="1"/>
          <p:nvPr/>
        </p:nvSpPr>
        <p:spPr>
          <a:xfrm>
            <a:off x="4892039" y="2779776"/>
            <a:ext cx="3547872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No mixed-signal block. Confirm digital pad models and off-chip interface assumptions.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15"/>
          <p:cNvSpPr/>
          <p:nvPr/>
        </p:nvSpPr>
        <p:spPr>
          <a:xfrm>
            <a:off x="502920" y="3456432"/>
            <a:ext cx="3977639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15"/>
          <p:cNvSpPr txBox="1"/>
          <p:nvPr/>
        </p:nvSpPr>
        <p:spPr>
          <a:xfrm>
            <a:off x="704088" y="3602735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Reliability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15"/>
          <p:cNvSpPr/>
          <p:nvPr/>
        </p:nvSpPr>
        <p:spPr>
          <a:xfrm>
            <a:off x="3291839" y="3593592"/>
            <a:ext cx="960120" cy="292608"/>
          </a:xfrm>
          <a:prstGeom prst="roundRect">
            <a:avLst>
              <a:gd fmla="val 16667" name="adj"/>
            </a:avLst>
          </a:prstGeom>
          <a:solidFill>
            <a:srgbClr val="B26A00"/>
          </a:solidFill>
          <a:ln cap="flat" cmpd="sng" w="12700">
            <a:solidFill>
              <a:srgbClr val="B26A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15"/>
          <p:cNvSpPr txBox="1"/>
          <p:nvPr/>
        </p:nvSpPr>
        <p:spPr>
          <a:xfrm>
            <a:off x="3291839" y="3593592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15"/>
          <p:cNvSpPr txBox="1"/>
          <p:nvPr/>
        </p:nvSpPr>
        <p:spPr>
          <a:xfrm>
            <a:off x="704088" y="3922776"/>
            <a:ext cx="3547872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Reset/wake tested. CDC/RDC, gated clocks, SRAM corners, antenna, IR/EM and waivers remain.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15"/>
          <p:cNvSpPr/>
          <p:nvPr/>
        </p:nvSpPr>
        <p:spPr>
          <a:xfrm>
            <a:off x="4690872" y="3456432"/>
            <a:ext cx="3977639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15"/>
          <p:cNvSpPr txBox="1"/>
          <p:nvPr/>
        </p:nvSpPr>
        <p:spPr>
          <a:xfrm>
            <a:off x="4892039" y="3602735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Documentation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15"/>
          <p:cNvSpPr/>
          <p:nvPr/>
        </p:nvSpPr>
        <p:spPr>
          <a:xfrm>
            <a:off x="7479792" y="3593592"/>
            <a:ext cx="960120" cy="292608"/>
          </a:xfrm>
          <a:prstGeom prst="roundRect">
            <a:avLst>
              <a:gd fmla="val 16667" name="adj"/>
            </a:avLst>
          </a:prstGeom>
          <a:solidFill>
            <a:srgbClr val="B26A00"/>
          </a:solidFill>
          <a:ln cap="flat" cmpd="sng" w="12700">
            <a:solidFill>
              <a:srgbClr val="B26A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15"/>
          <p:cNvSpPr txBox="1"/>
          <p:nvPr/>
        </p:nvSpPr>
        <p:spPr>
          <a:xfrm>
            <a:off x="7479792" y="3593592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15"/>
          <p:cNvSpPr txBox="1"/>
          <p:nvPr/>
        </p:nvSpPr>
        <p:spPr>
          <a:xfrm>
            <a:off x="4892039" y="3922776"/>
            <a:ext cx="3547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README/DASHBOARD/harness docs exist; reconcile stale metrics and attach final reports.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9" name="Google Shape;639;p15"/>
          <p:cNvCxnSpPr/>
          <p:nvPr/>
        </p:nvCxnSpPr>
        <p:spPr>
          <a:xfrm>
            <a:off x="502920" y="4910328"/>
            <a:ext cx="8138160" cy="0"/>
          </a:xfrm>
          <a:prstGeom prst="straightConnector1">
            <a:avLst/>
          </a:prstGeom>
          <a:noFill/>
          <a:ln cap="flat" cmpd="sng" w="15225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40" name="Google Shape;640;p15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D15 · MOSAIC-SoC · Chipathon 2026 Schematic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5"/>
          <p:cNvSpPr txBox="1"/>
          <p:nvPr/>
        </p:nvSpPr>
        <p:spPr>
          <a:xfrm>
            <a:off x="8046720" y="4919471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6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14. Open Issues &amp; Risk-Retirement Plan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16"/>
          <p:cNvSpPr/>
          <p:nvPr/>
        </p:nvSpPr>
        <p:spPr>
          <a:xfrm>
            <a:off x="7589520" y="320040"/>
            <a:ext cx="960120" cy="29260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F4F7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16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RISKS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50" name="Google Shape;650;p16"/>
          <p:cNvGraphicFramePr/>
          <p:nvPr/>
        </p:nvGraphicFramePr>
        <p:xfrm>
          <a:off x="411480" y="11247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{8B9BC38D-3093-48FA-9D67-E6F0C5B9224D}</a:tableStyleId>
              </a:tblPr>
              <a:tblGrid>
                <a:gridCol w="502925"/>
                <a:gridCol w="2331725"/>
                <a:gridCol w="5486400"/>
              </a:tblGrid>
              <a:tr h="36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4450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Issue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4450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Required action / closure evidence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44505A"/>
                    </a:solidFill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External-memory path undefined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Define and implement the off-chip memory interface (pads, controller, boot path) for the tapeout die.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SoC pin binding incomplete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Instantiate x_heep_system in mosaic_soc_core.sv; map every pad bit; lint + connectivity review.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complete signoff run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Finish flatten/slang path; produce synthesis, STA, DRC, LVS, antenna reports and final GDS.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B26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 firmware not integrated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Load mosaic_fw/demo.hex in the full-SoC TB and prove all configured worker harts complete.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B26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Harness regression incomplete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unit/integration tests; fix space-containing path handling and flow-runner edge cases.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B26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Pad / clock intent not frozen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Finalize pad order, bonding, derived/gated clocks, resets, CDC/RDC and timing exceptions.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B26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DRC waiver posture inherited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Justify every waiver and restore error-on-violation behavior for tapeout acceptance.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B26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OpenRAM capacity is wrong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Fix 512×8 / 4096×8 byte-capacity labels; on-chip SRAM is future-run scope (2026 die is external-memory).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4F7FA"/>
                    </a:solidFill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B26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SRAM macro outputs absent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n-US" sz="9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Future-run scope: generate/characterize GDS/LEF/LIB/SPICE, bind instance, align GND/VSS + PDN.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651" name="Google Shape;651;p16"/>
          <p:cNvCxnSpPr/>
          <p:nvPr/>
        </p:nvCxnSpPr>
        <p:spPr>
          <a:xfrm>
            <a:off x="502920" y="4910328"/>
            <a:ext cx="8138160" cy="0"/>
          </a:xfrm>
          <a:prstGeom prst="straightConnector1">
            <a:avLst/>
          </a:prstGeom>
          <a:noFill/>
          <a:ln cap="flat" cmpd="sng" w="15225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52" name="Google Shape;652;p16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D15 · MOSAIC-SoC · Chipathon 2026 Schematic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6"/>
          <p:cNvSpPr txBox="1"/>
          <p:nvPr/>
        </p:nvSpPr>
        <p:spPr>
          <a:xfrm>
            <a:off x="8046720" y="4919471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17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15. Questions for Reviewers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7"/>
          <p:cNvSpPr txBox="1"/>
          <p:nvPr/>
        </p:nvSpPr>
        <p:spPr>
          <a:xfrm>
            <a:off x="585216" y="749808"/>
            <a:ext cx="79552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Decisions requested now to prevent rework before the physical-design run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7"/>
          <p:cNvSpPr/>
          <p:nvPr/>
        </p:nvSpPr>
        <p:spPr>
          <a:xfrm>
            <a:off x="7589520" y="320040"/>
            <a:ext cx="960120" cy="29260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F4F7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17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17"/>
          <p:cNvSpPr/>
          <p:nvPr/>
        </p:nvSpPr>
        <p:spPr>
          <a:xfrm>
            <a:off x="502920" y="1143000"/>
            <a:ext cx="3977639" cy="9875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7"/>
          <p:cNvSpPr/>
          <p:nvPr/>
        </p:nvSpPr>
        <p:spPr>
          <a:xfrm>
            <a:off x="685800" y="1307592"/>
            <a:ext cx="402336" cy="292608"/>
          </a:xfrm>
          <a:prstGeom prst="roundRect">
            <a:avLst>
              <a:gd fmla="val 16667" name="adj"/>
            </a:avLst>
          </a:prstGeom>
          <a:solidFill>
            <a:srgbClr val="4285F4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17"/>
          <p:cNvSpPr txBox="1"/>
          <p:nvPr/>
        </p:nvSpPr>
        <p:spPr>
          <a:xfrm>
            <a:off x="685800" y="1307592"/>
            <a:ext cx="4023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17"/>
          <p:cNvSpPr txBox="1"/>
          <p:nvPr/>
        </p:nvSpPr>
        <p:spPr>
          <a:xfrm>
            <a:off x="1216151" y="128016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Memory plan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17"/>
          <p:cNvSpPr txBox="1"/>
          <p:nvPr/>
        </p:nvSpPr>
        <p:spPr>
          <a:xfrm>
            <a:off x="685800" y="1627632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Approve external-memory-only for the 2026 die and select the off-chip interface; corrected on-chip SRAM is deferred.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7"/>
          <p:cNvSpPr/>
          <p:nvPr/>
        </p:nvSpPr>
        <p:spPr>
          <a:xfrm>
            <a:off x="4690872" y="1143000"/>
            <a:ext cx="3977639" cy="9875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17"/>
          <p:cNvSpPr/>
          <p:nvPr/>
        </p:nvSpPr>
        <p:spPr>
          <a:xfrm>
            <a:off x="4873752" y="1307592"/>
            <a:ext cx="402336" cy="292608"/>
          </a:xfrm>
          <a:prstGeom prst="roundRect">
            <a:avLst>
              <a:gd fmla="val 16667" name="adj"/>
            </a:avLst>
          </a:prstGeom>
          <a:solidFill>
            <a:srgbClr val="0097A7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17"/>
          <p:cNvSpPr txBox="1"/>
          <p:nvPr/>
        </p:nvSpPr>
        <p:spPr>
          <a:xfrm>
            <a:off x="4873752" y="1307592"/>
            <a:ext cx="4023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7"/>
          <p:cNvSpPr txBox="1"/>
          <p:nvPr/>
        </p:nvSpPr>
        <p:spPr>
          <a:xfrm>
            <a:off x="5404104" y="128016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Tapeout configuration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7"/>
          <p:cNvSpPr txBox="1"/>
          <p:nvPr/>
        </p:nvSpPr>
        <p:spPr>
          <a:xfrm>
            <a:off x="4873752" y="1627632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Approve the minimal 1× FazyRV + 2× SERV die, with the 7-hart PoC remaining the flow-validation vehicle only?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17"/>
          <p:cNvSpPr/>
          <p:nvPr/>
        </p:nvSpPr>
        <p:spPr>
          <a:xfrm>
            <a:off x="502920" y="2313432"/>
            <a:ext cx="3977639" cy="9875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17"/>
          <p:cNvSpPr/>
          <p:nvPr/>
        </p:nvSpPr>
        <p:spPr>
          <a:xfrm>
            <a:off x="685800" y="2478024"/>
            <a:ext cx="402336" cy="292608"/>
          </a:xfrm>
          <a:prstGeom prst="roundRect">
            <a:avLst>
              <a:gd fmla="val 16667" name="adj"/>
            </a:avLst>
          </a:prstGeom>
          <a:solidFill>
            <a:srgbClr val="4285F4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17"/>
          <p:cNvSpPr txBox="1"/>
          <p:nvPr/>
        </p:nvSpPr>
        <p:spPr>
          <a:xfrm>
            <a:off x="685800" y="2478024"/>
            <a:ext cx="4023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17"/>
          <p:cNvSpPr txBox="1"/>
          <p:nvPr/>
        </p:nvSpPr>
        <p:spPr>
          <a:xfrm>
            <a:off x="1216151" y="2450592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Firmware scope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17"/>
          <p:cNvSpPr txBox="1"/>
          <p:nvPr/>
        </p:nvSpPr>
        <p:spPr>
          <a:xfrm>
            <a:off x="685800" y="2798064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Is bare-metal TDU scheduling sufficient for review, or is FreeRTOS integration required before freeze?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17"/>
          <p:cNvSpPr/>
          <p:nvPr/>
        </p:nvSpPr>
        <p:spPr>
          <a:xfrm>
            <a:off x="4690872" y="2313432"/>
            <a:ext cx="3977639" cy="9875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17"/>
          <p:cNvSpPr/>
          <p:nvPr/>
        </p:nvSpPr>
        <p:spPr>
          <a:xfrm>
            <a:off x="4873752" y="2478024"/>
            <a:ext cx="402336" cy="292608"/>
          </a:xfrm>
          <a:prstGeom prst="roundRect">
            <a:avLst>
              <a:gd fmla="val 16667" name="adj"/>
            </a:avLst>
          </a:prstGeom>
          <a:solidFill>
            <a:srgbClr val="0097A7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17"/>
          <p:cNvSpPr txBox="1"/>
          <p:nvPr/>
        </p:nvSpPr>
        <p:spPr>
          <a:xfrm>
            <a:off x="4873752" y="2478024"/>
            <a:ext cx="4023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17"/>
          <p:cNvSpPr txBox="1"/>
          <p:nvPr/>
        </p:nvSpPr>
        <p:spPr>
          <a:xfrm>
            <a:off x="5404104" y="2450592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Harness acceptance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17"/>
          <p:cNvSpPr txBox="1"/>
          <p:nvPr/>
        </p:nvSpPr>
        <p:spPr>
          <a:xfrm>
            <a:off x="4873752" y="2798064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Which harness commands and failure-recovery cases must be demonstrated as the Track D deliverable?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17"/>
          <p:cNvSpPr/>
          <p:nvPr/>
        </p:nvSpPr>
        <p:spPr>
          <a:xfrm>
            <a:off x="502920" y="3483864"/>
            <a:ext cx="3977639" cy="9875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17"/>
          <p:cNvSpPr/>
          <p:nvPr/>
        </p:nvSpPr>
        <p:spPr>
          <a:xfrm>
            <a:off x="685800" y="3648456"/>
            <a:ext cx="402336" cy="292608"/>
          </a:xfrm>
          <a:prstGeom prst="roundRect">
            <a:avLst>
              <a:gd fmla="val 16667" name="adj"/>
            </a:avLst>
          </a:prstGeom>
          <a:solidFill>
            <a:srgbClr val="4285F4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17"/>
          <p:cNvSpPr txBox="1"/>
          <p:nvPr/>
        </p:nvSpPr>
        <p:spPr>
          <a:xfrm>
            <a:off x="685800" y="3648456"/>
            <a:ext cx="4023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17"/>
          <p:cNvSpPr txBox="1"/>
          <p:nvPr/>
        </p:nvSpPr>
        <p:spPr>
          <a:xfrm>
            <a:off x="1216151" y="362102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Clock, power and pads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17"/>
          <p:cNvSpPr txBox="1"/>
          <p:nvPr/>
        </p:nvSpPr>
        <p:spPr>
          <a:xfrm>
            <a:off x="685800" y="3968496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Are 50 MHz, the clock-stall semantics, and a pad budget that includes the external-memory interface acceptable?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17"/>
          <p:cNvSpPr/>
          <p:nvPr/>
        </p:nvSpPr>
        <p:spPr>
          <a:xfrm>
            <a:off x="4690872" y="3483864"/>
            <a:ext cx="3977639" cy="9875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7"/>
          <p:cNvSpPr/>
          <p:nvPr/>
        </p:nvSpPr>
        <p:spPr>
          <a:xfrm>
            <a:off x="4873752" y="3648456"/>
            <a:ext cx="402336" cy="292608"/>
          </a:xfrm>
          <a:prstGeom prst="roundRect">
            <a:avLst>
              <a:gd fmla="val 16667" name="adj"/>
            </a:avLst>
          </a:prstGeom>
          <a:solidFill>
            <a:srgbClr val="0097A7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17"/>
          <p:cNvSpPr txBox="1"/>
          <p:nvPr/>
        </p:nvSpPr>
        <p:spPr>
          <a:xfrm>
            <a:off x="4873752" y="3648456"/>
            <a:ext cx="4023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7"/>
          <p:cNvSpPr txBox="1"/>
          <p:nvPr/>
        </p:nvSpPr>
        <p:spPr>
          <a:xfrm>
            <a:off x="5404104" y="362102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Signoff policy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7"/>
          <p:cNvSpPr txBox="1"/>
          <p:nvPr/>
        </p:nvSpPr>
        <p:spPr>
          <a:xfrm>
            <a:off x="4873752" y="3968496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Which waivers are acceptable, and what STA/DRC/LVS/antenna evidence package closes the review?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3" name="Google Shape;693;p17"/>
          <p:cNvCxnSpPr/>
          <p:nvPr/>
        </p:nvCxnSpPr>
        <p:spPr>
          <a:xfrm>
            <a:off x="502920" y="4910328"/>
            <a:ext cx="8138160" cy="0"/>
          </a:xfrm>
          <a:prstGeom prst="straightConnector1">
            <a:avLst/>
          </a:prstGeom>
          <a:noFill/>
          <a:ln cap="flat" cmpd="sng" w="15225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94" name="Google Shape;694;p17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D15 · MOSAIC-SoC · Chipathon 2026 Schematic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7"/>
          <p:cNvSpPr txBox="1"/>
          <p:nvPr/>
        </p:nvSpPr>
        <p:spPr>
          <a:xfrm>
            <a:off x="8046720" y="4919471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8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16. Review Outcome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18"/>
          <p:cNvSpPr/>
          <p:nvPr/>
        </p:nvSpPr>
        <p:spPr>
          <a:xfrm>
            <a:off x="7589520" y="320040"/>
            <a:ext cx="960120" cy="29260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F4F7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18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18"/>
          <p:cNvSpPr/>
          <p:nvPr/>
        </p:nvSpPr>
        <p:spPr>
          <a:xfrm>
            <a:off x="502920" y="1170432"/>
            <a:ext cx="2788920" cy="340156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18"/>
          <p:cNvSpPr txBox="1"/>
          <p:nvPr/>
        </p:nvSpPr>
        <p:spPr>
          <a:xfrm>
            <a:off x="667512" y="1298448"/>
            <a:ext cx="245973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Requested disposition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18"/>
          <p:cNvSpPr txBox="1"/>
          <p:nvPr/>
        </p:nvSpPr>
        <p:spPr>
          <a:xfrm>
            <a:off x="749808" y="1737360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18"/>
          <p:cNvSpPr txBox="1"/>
          <p:nvPr/>
        </p:nvSpPr>
        <p:spPr>
          <a:xfrm>
            <a:off x="1124712" y="175564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Approve schematic freeze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18"/>
          <p:cNvSpPr txBox="1"/>
          <p:nvPr/>
        </p:nvSpPr>
        <p:spPr>
          <a:xfrm>
            <a:off x="749808" y="2377439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18"/>
          <p:cNvSpPr txBox="1"/>
          <p:nvPr/>
        </p:nvSpPr>
        <p:spPr>
          <a:xfrm>
            <a:off x="1124712" y="2395727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Approve with actions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18"/>
          <p:cNvSpPr txBox="1"/>
          <p:nvPr/>
        </p:nvSpPr>
        <p:spPr>
          <a:xfrm>
            <a:off x="749808" y="3017519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8"/>
          <p:cNvSpPr txBox="1"/>
          <p:nvPr/>
        </p:nvSpPr>
        <p:spPr>
          <a:xfrm>
            <a:off x="1124712" y="303580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Re-review required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18"/>
          <p:cNvSpPr txBox="1"/>
          <p:nvPr/>
        </p:nvSpPr>
        <p:spPr>
          <a:xfrm>
            <a:off x="1755648" y="3703320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Reviewer notes / decision: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3" name="Google Shape;713;p18"/>
          <p:cNvCxnSpPr/>
          <p:nvPr/>
        </p:nvCxnSpPr>
        <p:spPr>
          <a:xfrm>
            <a:off x="749808" y="4096512"/>
            <a:ext cx="2249424" cy="0"/>
          </a:xfrm>
          <a:prstGeom prst="straightConnector1">
            <a:avLst/>
          </a:prstGeom>
          <a:noFill/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14" name="Google Shape;714;p18"/>
          <p:cNvCxnSpPr/>
          <p:nvPr/>
        </p:nvCxnSpPr>
        <p:spPr>
          <a:xfrm>
            <a:off x="749808" y="4325112"/>
            <a:ext cx="2249424" cy="0"/>
          </a:xfrm>
          <a:prstGeom prst="straightConnector1">
            <a:avLst/>
          </a:prstGeom>
          <a:noFill/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15" name="Google Shape;715;p18"/>
          <p:cNvSpPr/>
          <p:nvPr/>
        </p:nvSpPr>
        <p:spPr>
          <a:xfrm>
            <a:off x="3520440" y="1170432"/>
            <a:ext cx="5212080" cy="34015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18"/>
          <p:cNvSpPr txBox="1"/>
          <p:nvPr/>
        </p:nvSpPr>
        <p:spPr>
          <a:xfrm>
            <a:off x="3685032" y="1298448"/>
            <a:ext cx="48828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Proposed exit criteria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8"/>
          <p:cNvSpPr/>
          <p:nvPr/>
        </p:nvSpPr>
        <p:spPr>
          <a:xfrm>
            <a:off x="3749039" y="1664208"/>
            <a:ext cx="310896" cy="292608"/>
          </a:xfrm>
          <a:prstGeom prst="roundRect">
            <a:avLst>
              <a:gd fmla="val 16667" name="adj"/>
            </a:avLst>
          </a:prstGeom>
          <a:solidFill>
            <a:srgbClr val="0097A7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18"/>
          <p:cNvSpPr txBox="1"/>
          <p:nvPr/>
        </p:nvSpPr>
        <p:spPr>
          <a:xfrm>
            <a:off x="3749039" y="1664208"/>
            <a:ext cx="310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18"/>
          <p:cNvSpPr txBox="1"/>
          <p:nvPr/>
        </p:nvSpPr>
        <p:spPr>
          <a:xfrm>
            <a:off x="4187952" y="1655063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Configuration frozen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8"/>
          <p:cNvSpPr txBox="1"/>
          <p:nvPr/>
        </p:nvSpPr>
        <p:spPr>
          <a:xfrm>
            <a:off x="4187952" y="1856232"/>
            <a:ext cx="41879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Tapeout core mix (1× FazyRV + 2× SERV), external-memory plan, clock/power target and pad budget approved.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18"/>
          <p:cNvSpPr/>
          <p:nvPr/>
        </p:nvSpPr>
        <p:spPr>
          <a:xfrm>
            <a:off x="3749039" y="2203704"/>
            <a:ext cx="310896" cy="292608"/>
          </a:xfrm>
          <a:prstGeom prst="roundRect">
            <a:avLst>
              <a:gd fmla="val 16667" name="adj"/>
            </a:avLst>
          </a:prstGeom>
          <a:solidFill>
            <a:srgbClr val="0097A7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18"/>
          <p:cNvSpPr txBox="1"/>
          <p:nvPr/>
        </p:nvSpPr>
        <p:spPr>
          <a:xfrm>
            <a:off x="3749039" y="2203704"/>
            <a:ext cx="310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18"/>
          <p:cNvSpPr txBox="1"/>
          <p:nvPr/>
        </p:nvSpPr>
        <p:spPr>
          <a:xfrm>
            <a:off x="4187952" y="2194560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Firmware integrated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18"/>
          <p:cNvSpPr txBox="1"/>
          <p:nvPr/>
        </p:nvSpPr>
        <p:spPr>
          <a:xfrm>
            <a:off x="4187952" y="2395728"/>
            <a:ext cx="41879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Final HEX boots in full-SoC simulation and all selected worker harts complete.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8"/>
          <p:cNvSpPr/>
          <p:nvPr/>
        </p:nvSpPr>
        <p:spPr>
          <a:xfrm>
            <a:off x="3749039" y="2743200"/>
            <a:ext cx="310896" cy="292608"/>
          </a:xfrm>
          <a:prstGeom prst="roundRect">
            <a:avLst>
              <a:gd fmla="val 16667" name="adj"/>
            </a:avLst>
          </a:prstGeom>
          <a:solidFill>
            <a:srgbClr val="0097A7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18"/>
          <p:cNvSpPr txBox="1"/>
          <p:nvPr/>
        </p:nvSpPr>
        <p:spPr>
          <a:xfrm>
            <a:off x="3749039" y="2743200"/>
            <a:ext cx="310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8"/>
          <p:cNvSpPr txBox="1"/>
          <p:nvPr/>
        </p:nvSpPr>
        <p:spPr>
          <a:xfrm>
            <a:off x="4187952" y="2734056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Harness evidenced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8"/>
          <p:cNvSpPr txBox="1"/>
          <p:nvPr/>
        </p:nvSpPr>
        <p:spPr>
          <a:xfrm>
            <a:off x="4187952" y="2935224"/>
            <a:ext cx="41879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Required skills and failure paths return reproducible structured results.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18"/>
          <p:cNvSpPr/>
          <p:nvPr/>
        </p:nvSpPr>
        <p:spPr>
          <a:xfrm>
            <a:off x="3749039" y="3282696"/>
            <a:ext cx="310896" cy="292608"/>
          </a:xfrm>
          <a:prstGeom prst="roundRect">
            <a:avLst>
              <a:gd fmla="val 16667" name="adj"/>
            </a:avLst>
          </a:prstGeom>
          <a:solidFill>
            <a:srgbClr val="0097A7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18"/>
          <p:cNvSpPr txBox="1"/>
          <p:nvPr/>
        </p:nvSpPr>
        <p:spPr>
          <a:xfrm>
            <a:off x="3749039" y="3282696"/>
            <a:ext cx="310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18"/>
          <p:cNvSpPr txBox="1"/>
          <p:nvPr/>
        </p:nvSpPr>
        <p:spPr>
          <a:xfrm>
            <a:off x="4187952" y="3273552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Memory plan closed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18"/>
          <p:cNvSpPr txBox="1"/>
          <p:nvPr/>
        </p:nvSpPr>
        <p:spPr>
          <a:xfrm>
            <a:off x="4187952" y="3474720"/>
            <a:ext cx="41879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External-memory interface defined and simulated; on-chip SRAM macros tracked as future work.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18"/>
          <p:cNvSpPr/>
          <p:nvPr/>
        </p:nvSpPr>
        <p:spPr>
          <a:xfrm>
            <a:off x="3749039" y="3822191"/>
            <a:ext cx="310896" cy="292608"/>
          </a:xfrm>
          <a:prstGeom prst="roundRect">
            <a:avLst>
              <a:gd fmla="val 16667" name="adj"/>
            </a:avLst>
          </a:prstGeom>
          <a:solidFill>
            <a:srgbClr val="0097A7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18"/>
          <p:cNvSpPr txBox="1"/>
          <p:nvPr/>
        </p:nvSpPr>
        <p:spPr>
          <a:xfrm>
            <a:off x="3749039" y="3822191"/>
            <a:ext cx="310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18"/>
          <p:cNvSpPr txBox="1"/>
          <p:nvPr/>
        </p:nvSpPr>
        <p:spPr>
          <a:xfrm>
            <a:off x="4187952" y="3813048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Signoff complete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18"/>
          <p:cNvSpPr txBox="1"/>
          <p:nvPr/>
        </p:nvSpPr>
        <p:spPr>
          <a:xfrm>
            <a:off x="4187952" y="4014215"/>
            <a:ext cx="41879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STA, DRC/LVS, antenna and justified waivers are archived and approved.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18"/>
          <p:cNvSpPr/>
          <p:nvPr/>
        </p:nvSpPr>
        <p:spPr>
          <a:xfrm>
            <a:off x="758952" y="3611880"/>
            <a:ext cx="914400" cy="292608"/>
          </a:xfrm>
          <a:prstGeom prst="roundRect">
            <a:avLst>
              <a:gd fmla="val 16667" name="adj"/>
            </a:avLst>
          </a:prstGeom>
          <a:solidFill>
            <a:srgbClr val="4285F4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18"/>
          <p:cNvSpPr txBox="1"/>
          <p:nvPr/>
        </p:nvSpPr>
        <p:spPr>
          <a:xfrm>
            <a:off x="758952" y="361188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9" name="Google Shape;739;p18"/>
          <p:cNvCxnSpPr/>
          <p:nvPr/>
        </p:nvCxnSpPr>
        <p:spPr>
          <a:xfrm>
            <a:off x="502920" y="4910328"/>
            <a:ext cx="8138160" cy="0"/>
          </a:xfrm>
          <a:prstGeom prst="straightConnector1">
            <a:avLst/>
          </a:prstGeom>
          <a:noFill/>
          <a:ln cap="flat" cmpd="sng" w="15225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40" name="Google Shape;740;p18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D15 · MOSAIC-SoC · Chipathon 2026 Schematic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18"/>
          <p:cNvSpPr txBox="1"/>
          <p:nvPr/>
        </p:nvSpPr>
        <p:spPr>
          <a:xfrm>
            <a:off x="8046720" y="4919471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19"/>
          <p:cNvSpPr txBox="1"/>
          <p:nvPr/>
        </p:nvSpPr>
        <p:spPr>
          <a:xfrm>
            <a:off x="566928" y="316991"/>
            <a:ext cx="8001360" cy="381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Appendix A · PoC Config (Flow Validation)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19"/>
          <p:cNvSpPr txBox="1"/>
          <p:nvPr/>
        </p:nvSpPr>
        <p:spPr>
          <a:xfrm>
            <a:off x="585216" y="749808"/>
            <a:ext cx="79552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Current mosaic.yaml PoC exercises the flow; the 2026 tapeout die is the minimal FazyRV + 2× SERV configuration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19"/>
          <p:cNvSpPr/>
          <p:nvPr/>
        </p:nvSpPr>
        <p:spPr>
          <a:xfrm>
            <a:off x="7589520" y="320040"/>
            <a:ext cx="960120" cy="29260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F4F7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19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APPX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19"/>
          <p:cNvSpPr/>
          <p:nvPr/>
        </p:nvSpPr>
        <p:spPr>
          <a:xfrm>
            <a:off x="502920" y="1143000"/>
            <a:ext cx="4709160" cy="3502152"/>
          </a:xfrm>
          <a:prstGeom prst="roundRect">
            <a:avLst>
              <a:gd fmla="val 16667" name="adj"/>
            </a:avLst>
          </a:prstGeom>
          <a:solidFill>
            <a:srgbClr val="44505A"/>
          </a:solidFill>
          <a:ln cap="flat" cmpd="sng" w="12700">
            <a:solidFill>
              <a:srgbClr val="4450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19"/>
          <p:cNvSpPr txBox="1"/>
          <p:nvPr/>
        </p:nvSpPr>
        <p:spPr>
          <a:xfrm>
            <a:off x="731520" y="1389888"/>
            <a:ext cx="425196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soc: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name: mosaic_poc_alpha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pdk: gf180mcu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cores: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- {ip: cv32e20, count: 1, role: titan, isa: rv32emc}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- {ip: fazyrv, count: 2, role: atlas, chunksize: 8}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- {ip: serv, count: 4, role: nano, isa: rv32i}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memory: {sram_kb: 32, boot_rom_kb: 2}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bus: obi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scheduler: {tdu: true, mode: dynamic}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peripherals: [uart, gpio, timer, spi]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19"/>
          <p:cNvSpPr/>
          <p:nvPr/>
        </p:nvSpPr>
        <p:spPr>
          <a:xfrm>
            <a:off x="5440680" y="1143000"/>
            <a:ext cx="3200400" cy="987552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19"/>
          <p:cNvSpPr txBox="1"/>
          <p:nvPr/>
        </p:nvSpPr>
        <p:spPr>
          <a:xfrm>
            <a:off x="5605272" y="1271016"/>
            <a:ext cx="2871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Harness-validated topology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19"/>
          <p:cNvSpPr txBox="1"/>
          <p:nvPr/>
        </p:nvSpPr>
        <p:spPr>
          <a:xfrm>
            <a:off x="5650992" y="1591056"/>
            <a:ext cx="27797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mosaic.yaml validates: 7 harts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4 peripherals · dynamic TDU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19"/>
          <p:cNvSpPr/>
          <p:nvPr/>
        </p:nvSpPr>
        <p:spPr>
          <a:xfrm>
            <a:off x="5440680" y="2350008"/>
            <a:ext cx="3200400" cy="9875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19"/>
          <p:cNvSpPr txBox="1"/>
          <p:nvPr/>
        </p:nvSpPr>
        <p:spPr>
          <a:xfrm>
            <a:off x="5605272" y="2478024"/>
            <a:ext cx="2871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Memory configuration conflict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19"/>
          <p:cNvSpPr txBox="1"/>
          <p:nvPr/>
        </p:nvSpPr>
        <p:spPr>
          <a:xfrm>
            <a:off x="5650992" y="2779776"/>
            <a:ext cx="27797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YAML requests 32 KB logical SRAM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LibreLane defaults to '4k' macro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whose config is actually 512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19"/>
          <p:cNvSpPr/>
          <p:nvPr/>
        </p:nvSpPr>
        <p:spPr>
          <a:xfrm>
            <a:off x="5440680" y="3557016"/>
            <a:ext cx="3200400" cy="9875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19"/>
          <p:cNvSpPr txBox="1"/>
          <p:nvPr/>
        </p:nvSpPr>
        <p:spPr>
          <a:xfrm>
            <a:off x="5605272" y="3685032"/>
            <a:ext cx="2871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Current integrated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19"/>
          <p:cNvSpPr txBox="1"/>
          <p:nvPr/>
        </p:nvSpPr>
        <p:spPr>
          <a:xfrm>
            <a:off x="5650992" y="3986784"/>
            <a:ext cx="27797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mosaic_wake_demo.yaml: 1× cv32e20 +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1× FazyRV + 1× SERV · current full-SoC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2" name="Google Shape;762;p19"/>
          <p:cNvCxnSpPr/>
          <p:nvPr/>
        </p:nvCxnSpPr>
        <p:spPr>
          <a:xfrm>
            <a:off x="502920" y="4910328"/>
            <a:ext cx="8138160" cy="0"/>
          </a:xfrm>
          <a:prstGeom prst="straightConnector1">
            <a:avLst/>
          </a:prstGeom>
          <a:noFill/>
          <a:ln cap="flat" cmpd="sng" w="15225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63" name="Google Shape;763;p19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D15 · MOSAIC-SoC · Chipathon 2026 Schematic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19"/>
          <p:cNvSpPr txBox="1"/>
          <p:nvPr/>
        </p:nvSpPr>
        <p:spPr>
          <a:xfrm>
            <a:off x="8046720" y="4919471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0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Appendix B · Verification Evidence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20"/>
          <p:cNvSpPr txBox="1"/>
          <p:nvPr/>
        </p:nvSpPr>
        <p:spPr>
          <a:xfrm>
            <a:off x="585216" y="749808"/>
            <a:ext cx="79552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Commands and artifacts to place in the schematic-review package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20"/>
          <p:cNvSpPr/>
          <p:nvPr/>
        </p:nvSpPr>
        <p:spPr>
          <a:xfrm>
            <a:off x="7589520" y="320040"/>
            <a:ext cx="960120" cy="29260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12700">
            <a:solidFill>
              <a:srgbClr val="F4F7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0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APPX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20"/>
          <p:cNvSpPr/>
          <p:nvPr/>
        </p:nvSpPr>
        <p:spPr>
          <a:xfrm>
            <a:off x="502920" y="1170432"/>
            <a:ext cx="1143000" cy="292608"/>
          </a:xfrm>
          <a:prstGeom prst="roundRect">
            <a:avLst>
              <a:gd fmla="val 16667" name="adj"/>
            </a:avLst>
          </a:prstGeom>
          <a:solidFill>
            <a:srgbClr val="0097A7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20"/>
          <p:cNvSpPr txBox="1"/>
          <p:nvPr/>
        </p:nvSpPr>
        <p:spPr>
          <a:xfrm>
            <a:off x="502920" y="1170432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20"/>
          <p:cNvSpPr/>
          <p:nvPr/>
        </p:nvSpPr>
        <p:spPr>
          <a:xfrm>
            <a:off x="1783080" y="1170432"/>
            <a:ext cx="3703320" cy="329184"/>
          </a:xfrm>
          <a:prstGeom prst="roundRect">
            <a:avLst>
              <a:gd fmla="val 16667" name="adj"/>
            </a:avLst>
          </a:prstGeom>
          <a:solidFill>
            <a:srgbClr val="44505A"/>
          </a:solidFill>
          <a:ln cap="flat" cmpd="sng" w="12700">
            <a:solidFill>
              <a:srgbClr val="4450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20"/>
          <p:cNvSpPr txBox="1"/>
          <p:nvPr/>
        </p:nvSpPr>
        <p:spPr>
          <a:xfrm>
            <a:off x="1920240" y="1216151"/>
            <a:ext cx="3429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python -m harness config-author validate mosaic.yaml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0"/>
          <p:cNvSpPr txBox="1"/>
          <p:nvPr/>
        </p:nvSpPr>
        <p:spPr>
          <a:xfrm>
            <a:off x="5715000" y="1197864"/>
            <a:ext cx="2788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PASS · 7 cores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0"/>
          <p:cNvSpPr/>
          <p:nvPr/>
        </p:nvSpPr>
        <p:spPr>
          <a:xfrm>
            <a:off x="502920" y="1746504"/>
            <a:ext cx="1143000" cy="292608"/>
          </a:xfrm>
          <a:prstGeom prst="roundRect">
            <a:avLst>
              <a:gd fmla="val 16667" name="adj"/>
            </a:avLst>
          </a:prstGeom>
          <a:solidFill>
            <a:srgbClr val="0097A7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20"/>
          <p:cNvSpPr txBox="1"/>
          <p:nvPr/>
        </p:nvSpPr>
        <p:spPr>
          <a:xfrm>
            <a:off x="502920" y="1746504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FIRMWARE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20"/>
          <p:cNvSpPr/>
          <p:nvPr/>
        </p:nvSpPr>
        <p:spPr>
          <a:xfrm>
            <a:off x="1783080" y="1746504"/>
            <a:ext cx="3703320" cy="329184"/>
          </a:xfrm>
          <a:prstGeom prst="roundRect">
            <a:avLst>
              <a:gd fmla="val 16667" name="adj"/>
            </a:avLst>
          </a:prstGeom>
          <a:solidFill>
            <a:srgbClr val="44505A"/>
          </a:solidFill>
          <a:ln cap="flat" cmpd="sng" w="12700">
            <a:solidFill>
              <a:srgbClr val="4450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20"/>
          <p:cNvSpPr txBox="1"/>
          <p:nvPr/>
        </p:nvSpPr>
        <p:spPr>
          <a:xfrm>
            <a:off x="1920240" y="1792224"/>
            <a:ext cx="3429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make ROOT=/tmp/mosaic_soc_latest RISCV_TC=riscv32-unknown-elf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20"/>
          <p:cNvSpPr txBox="1"/>
          <p:nvPr/>
        </p:nvSpPr>
        <p:spPr>
          <a:xfrm>
            <a:off x="5715000" y="1773936"/>
            <a:ext cx="2788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ELF + HEX build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20"/>
          <p:cNvSpPr/>
          <p:nvPr/>
        </p:nvSpPr>
        <p:spPr>
          <a:xfrm>
            <a:off x="502920" y="2322576"/>
            <a:ext cx="1143000" cy="292608"/>
          </a:xfrm>
          <a:prstGeom prst="roundRect">
            <a:avLst>
              <a:gd fmla="val 16667" name="adj"/>
            </a:avLst>
          </a:prstGeom>
          <a:solidFill>
            <a:srgbClr val="0097A7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20"/>
          <p:cNvSpPr txBox="1"/>
          <p:nvPr/>
        </p:nvSpPr>
        <p:spPr>
          <a:xfrm>
            <a:off x="502920" y="2322576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FULL-SOC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20"/>
          <p:cNvSpPr/>
          <p:nvPr/>
        </p:nvSpPr>
        <p:spPr>
          <a:xfrm>
            <a:off x="1783080" y="2322576"/>
            <a:ext cx="3703320" cy="329184"/>
          </a:xfrm>
          <a:prstGeom prst="roundRect">
            <a:avLst>
              <a:gd fmla="val 16667" name="adj"/>
            </a:avLst>
          </a:prstGeom>
          <a:solidFill>
            <a:srgbClr val="44505A"/>
          </a:solidFill>
          <a:ln cap="flat" cmpd="sng" w="12700">
            <a:solidFill>
              <a:srgbClr val="4450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20"/>
          <p:cNvSpPr txBox="1"/>
          <p:nvPr/>
        </p:nvSpPr>
        <p:spPr>
          <a:xfrm>
            <a:off x="1920240" y="2368296"/>
            <a:ext cx="3429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tb/mosaic_soc/run.sh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20"/>
          <p:cNvSpPr txBox="1"/>
          <p:nvPr/>
        </p:nvSpPr>
        <p:spPr>
          <a:xfrm>
            <a:off x="5715000" y="2350008"/>
            <a:ext cx="2788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legacy fw: EXIT SUCCESS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20"/>
          <p:cNvSpPr/>
          <p:nvPr/>
        </p:nvSpPr>
        <p:spPr>
          <a:xfrm>
            <a:off x="502920" y="2898648"/>
            <a:ext cx="1143000" cy="292608"/>
          </a:xfrm>
          <a:prstGeom prst="roundRect">
            <a:avLst>
              <a:gd fmla="val 16667" name="adj"/>
            </a:avLst>
          </a:prstGeom>
          <a:solidFill>
            <a:srgbClr val="0097A7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20"/>
          <p:cNvSpPr txBox="1"/>
          <p:nvPr/>
        </p:nvSpPr>
        <p:spPr>
          <a:xfrm>
            <a:off x="502920" y="2898648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REGRESSIONS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20"/>
          <p:cNvSpPr/>
          <p:nvPr/>
        </p:nvSpPr>
        <p:spPr>
          <a:xfrm>
            <a:off x="1783080" y="2898648"/>
            <a:ext cx="3703320" cy="329184"/>
          </a:xfrm>
          <a:prstGeom prst="roundRect">
            <a:avLst>
              <a:gd fmla="val 16667" name="adj"/>
            </a:avLst>
          </a:prstGeom>
          <a:solidFill>
            <a:srgbClr val="44505A"/>
          </a:solidFill>
          <a:ln cap="flat" cmpd="sng" w="12700">
            <a:solidFill>
              <a:srgbClr val="4450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20"/>
          <p:cNvSpPr txBox="1"/>
          <p:nvPr/>
        </p:nvSpPr>
        <p:spPr>
          <a:xfrm>
            <a:off x="1920240" y="2944368"/>
            <a:ext cx="3429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tb/mosaic/cocotb/run.sh; tb/tdu/...; tb/idma/...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20"/>
          <p:cNvSpPr txBox="1"/>
          <p:nvPr/>
        </p:nvSpPr>
        <p:spPr>
          <a:xfrm>
            <a:off x="5715000" y="2926079"/>
            <a:ext cx="2788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existing PASS evidence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20"/>
          <p:cNvSpPr/>
          <p:nvPr/>
        </p:nvSpPr>
        <p:spPr>
          <a:xfrm>
            <a:off x="502920" y="3474720"/>
            <a:ext cx="1143000" cy="292608"/>
          </a:xfrm>
          <a:prstGeom prst="roundRect">
            <a:avLst>
              <a:gd fmla="val 16667" name="adj"/>
            </a:avLst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20"/>
          <p:cNvSpPr txBox="1"/>
          <p:nvPr/>
        </p:nvSpPr>
        <p:spPr>
          <a:xfrm>
            <a:off x="502920" y="3474720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20"/>
          <p:cNvSpPr/>
          <p:nvPr/>
        </p:nvSpPr>
        <p:spPr>
          <a:xfrm>
            <a:off x="1783080" y="3474720"/>
            <a:ext cx="3703320" cy="329184"/>
          </a:xfrm>
          <a:prstGeom prst="roundRect">
            <a:avLst>
              <a:gd fmla="val 16667" name="adj"/>
            </a:avLst>
          </a:prstGeom>
          <a:solidFill>
            <a:srgbClr val="44505A"/>
          </a:solidFill>
          <a:ln cap="flat" cmpd="sng" w="12700">
            <a:solidFill>
              <a:srgbClr val="4450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20"/>
          <p:cNvSpPr txBox="1"/>
          <p:nvPr/>
        </p:nvSpPr>
        <p:spPr>
          <a:xfrm>
            <a:off x="1920240" y="3520439"/>
            <a:ext cx="3429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python sram_compiler.py &lt;corrected_config.py&gt;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20"/>
          <p:cNvSpPr txBox="1"/>
          <p:nvPr/>
        </p:nvSpPr>
        <p:spPr>
          <a:xfrm>
            <a:off x="5715000" y="3502151"/>
            <a:ext cx="2788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PENDING macro views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20"/>
          <p:cNvSpPr/>
          <p:nvPr/>
        </p:nvSpPr>
        <p:spPr>
          <a:xfrm>
            <a:off x="502920" y="4050791"/>
            <a:ext cx="1143000" cy="292608"/>
          </a:xfrm>
          <a:prstGeom prst="roundRect">
            <a:avLst>
              <a:gd fmla="val 16667" name="adj"/>
            </a:avLst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20"/>
          <p:cNvSpPr txBox="1"/>
          <p:nvPr/>
        </p:nvSpPr>
        <p:spPr>
          <a:xfrm>
            <a:off x="502920" y="4050791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HARDENING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20"/>
          <p:cNvSpPr/>
          <p:nvPr/>
        </p:nvSpPr>
        <p:spPr>
          <a:xfrm>
            <a:off x="1783080" y="4050791"/>
            <a:ext cx="3703320" cy="329184"/>
          </a:xfrm>
          <a:prstGeom prst="roundRect">
            <a:avLst>
              <a:gd fmla="val 16667" name="adj"/>
            </a:avLst>
          </a:prstGeom>
          <a:solidFill>
            <a:srgbClr val="44505A"/>
          </a:solidFill>
          <a:ln cap="flat" cmpd="sng" w="12700">
            <a:solidFill>
              <a:srgbClr val="4450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20"/>
          <p:cNvSpPr txBox="1"/>
          <p:nvPr/>
        </p:nvSpPr>
        <p:spPr>
          <a:xfrm>
            <a:off x="1920240" y="4096511"/>
            <a:ext cx="3429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cd flow/librelane &amp;&amp; make harden SLOT=mosaic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20"/>
          <p:cNvSpPr txBox="1"/>
          <p:nvPr/>
        </p:nvSpPr>
        <p:spPr>
          <a:xfrm>
            <a:off x="5715000" y="4078224"/>
            <a:ext cx="2788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4505A"/>
                </a:solidFill>
                <a:latin typeface="Arial"/>
                <a:ea typeface="Arial"/>
                <a:cs typeface="Arial"/>
                <a:sym typeface="Arial"/>
              </a:rPr>
              <a:t>PENDING signoff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4" name="Google Shape;804;p20"/>
          <p:cNvCxnSpPr/>
          <p:nvPr/>
        </p:nvCxnSpPr>
        <p:spPr>
          <a:xfrm>
            <a:off x="502920" y="4910328"/>
            <a:ext cx="8138160" cy="0"/>
          </a:xfrm>
          <a:prstGeom prst="straightConnector1">
            <a:avLst/>
          </a:prstGeom>
          <a:noFill/>
          <a:ln cap="flat" cmpd="sng" w="15225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05" name="Google Shape;805;p20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D15 · MOSAIC-SoC · Chipathon 2026 Schematic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20"/>
          <p:cNvSpPr txBox="1"/>
          <p:nvPr/>
        </p:nvSpPr>
        <p:spPr>
          <a:xfrm>
            <a:off x="8046720" y="4919471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ntent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MOSAIC-SoC team</dc:creator>
</cp:coreProperties>
</file>