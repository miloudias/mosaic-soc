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2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51435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07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●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○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 panose="020B0604020202020204"/>
              <a:buChar char="■"/>
              <a:defRPr sz="11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6"/>
          <p:cNvSpPr txBox="1"/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8"/>
          <p:cNvSpPr txBox="1"/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</a:pPr>
            <a:endParaRPr sz="1400" b="0" i="0" u="none" strike="noStrike" cap="none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8" name="Google Shape;38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10"/>
          <p:cNvSpPr txBox="1"/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10"/>
          <p:cNvSpPr txBox="1"/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2"/>
          <p:cNvSpPr txBox="1"/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 panose="020B0604020202020204"/>
              <a:buNone/>
              <a:defRPr sz="10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97A7"/>
          </a:solidFill>
          <a:ln w="1270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795527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97A7"/>
                </a:solidFill>
                <a:latin typeface="Arial" panose="020B0604020202020204"/>
              </a:rPr>
              <a:t>IEEE SSCS CHIPATHON 2026 · TRACK D · GF180MCU · LAYOUT REVIEW</a:t>
            </a:r>
            <a:endParaRPr sz="1200" b="1">
              <a:solidFill>
                <a:srgbClr val="0097A7"/>
              </a:solidFill>
              <a:latin typeface="Arial" panose="020B0604020202020204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80467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>
                <a:solidFill>
                  <a:srgbClr val="212121"/>
                </a:solidFill>
                <a:latin typeface="Arial" panose="020B0604020202020204"/>
              </a:rPr>
              <a:t>MOSAIC-SoC · Block A</a:t>
            </a:r>
            <a:endParaRPr sz="46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66928" y="214884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>
                <a:solidFill>
                  <a:srgbClr val="44505A"/>
                </a:solidFill>
                <a:latin typeface="Arial" panose="020B0604020202020204"/>
              </a:rPr>
              <a:t>One frozen configuration, hardened to a DRC/LVS-clean GF180 macro, and the path that produced it.</a:t>
            </a:r>
            <a:endParaRPr sz="1700" b="0">
              <a:solidFill>
                <a:srgbClr val="44505A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6928" y="2880360"/>
            <a:ext cx="2578608" cy="100584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303580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4285F4"/>
                </a:solidFill>
                <a:latin typeface="Arial" panose="020B0604020202020204"/>
              </a:rPr>
              <a:t>1.2488 mm²</a:t>
            </a:r>
            <a:endParaRPr sz="1900" b="1">
              <a:solidFill>
                <a:srgbClr val="4285F4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13232" y="3456432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8909C"/>
                </a:solidFill>
                <a:latin typeface="Arial" panose="020B0604020202020204"/>
              </a:rPr>
              <a:t>1117.5 µm square macro</a:t>
            </a:r>
            <a:endParaRPr sz="10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310128" y="2880360"/>
            <a:ext cx="2578608" cy="100584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55975" y="3035935"/>
            <a:ext cx="2386330" cy="292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E7D32"/>
                </a:solidFill>
                <a:latin typeface="Arial" panose="020B0604020202020204"/>
              </a:rPr>
              <a:t>DRC · LVS · XOR = 0</a:t>
            </a:r>
            <a:endParaRPr sz="1900" b="1">
              <a:solidFill>
                <a:srgbClr val="2E7D32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56432" y="3456432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8909C"/>
                </a:solidFill>
                <a:latin typeface="Arial" panose="020B0604020202020204"/>
              </a:rPr>
              <a:t>full deck, nothing skipped</a:t>
            </a:r>
            <a:endParaRPr sz="10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053328" y="2880360"/>
            <a:ext cx="2578608" cy="100584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9632" y="303580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097A7"/>
                </a:solidFill>
                <a:latin typeface="Arial" panose="020B0604020202020204"/>
              </a:rPr>
              <a:t>9/9 corners</a:t>
            </a:r>
            <a:endParaRPr sz="1900" b="1">
              <a:solidFill>
                <a:srgbClr val="0097A7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199632" y="3456432"/>
            <a:ext cx="2286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8909C"/>
                </a:solidFill>
                <a:latin typeface="Arial" panose="020B0604020202020204"/>
              </a:rPr>
              <a:t>timing closed, TNS 0</a:t>
            </a:r>
            <a:endParaRPr sz="10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66928" y="4023360"/>
            <a:ext cx="795527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2E7D32"/>
                </a:solidFill>
                <a:latin typeface="Arial" panose="020B0604020202020204"/>
              </a:rPr>
              <a:t>RE-REVIEW OUTCOME: GO   ·   conditional conditions cleared; closure items open before tapeout</a:t>
            </a:r>
            <a:endParaRPr sz="1150" b="1">
              <a:solidFill>
                <a:srgbClr val="2E7D32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66928" y="4370832"/>
            <a:ext cx="795527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78909C"/>
                </a:solidFill>
                <a:latin typeface="Arial" panose="020B0604020202020204"/>
              </a:rPr>
              <a:t>@MILOUDIAS · @trabdelbasset · @yacine-hk   ·   Blida University   ·   config: mosaic_tapeout_ultra.yaml   ·   August 2026</a:t>
            </a:r>
            <a:endParaRPr sz="1100" b="0">
              <a:solidFill>
                <a:srgbClr val="78909C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001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12121"/>
                </a:solidFill>
                <a:latin typeface="Arial" panose="020B0604020202020204"/>
              </a:rPr>
              <a:t>1. From Schematic Review to Layout Review</a:t>
            </a:r>
            <a:endParaRPr sz="25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49808"/>
            <a:ext cx="795527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8909C"/>
                </a:solidFill>
                <a:latin typeface="Arial" panose="020B0604020202020204"/>
              </a:rPr>
              <a:t>The schematic review flagged one blocker: the deck, config, and target validation described three different chips</a:t>
            </a:r>
            <a:endParaRPr sz="11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89520" y="320040"/>
            <a:ext cx="960120" cy="2926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0" y="320040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97A7"/>
                </a:solidFill>
                <a:latin typeface="Arial" panose="020B0604020202020204"/>
              </a:rPr>
              <a:t>STATUS</a:t>
            </a:r>
            <a:endParaRPr sz="1050" b="1">
              <a:solidFill>
                <a:srgbClr val="0097A7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170432"/>
            <a:ext cx="4041648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298448"/>
            <a:ext cx="371246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2121"/>
                </a:solidFill>
                <a:latin typeface="Arial" panose="020B0604020202020204"/>
              </a:rPr>
              <a:t>What moved since the schematic review</a:t>
            </a:r>
            <a:endParaRPr sz="13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7512" y="1627632"/>
            <a:ext cx="3703320" cy="15690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40"/>
              </a:spcAft>
            </a:pPr>
            <a:r>
              <a:rPr sz="1050">
                <a:solidFill>
                  <a:srgbClr val="212121"/>
                </a:solidFill>
                <a:latin typeface="Arial" panose="020B0604020202020204"/>
              </a:rPr>
              <a:t>• Physical design 30% → 80%; overall 78% → 87%.</a:t>
            </a:r>
            <a:endParaRPr sz="10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40"/>
              </a:spcAft>
            </a:pPr>
            <a:r>
              <a:rPr sz="1050">
                <a:solidFill>
                  <a:srgbClr val="212121"/>
                </a:solidFill>
                <a:latin typeface="Arial" panose="020B0604020202020204"/>
              </a:rPr>
              <a:t>• Block A hardened to a signed-off GF180 macro: DRC, LVS, XOR, antenna all 0.</a:t>
            </a:r>
            <a:endParaRPr sz="10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40"/>
              </a:spcAft>
            </a:pPr>
            <a:r>
              <a:rPr sz="1050">
                <a:solidFill>
                  <a:srgbClr val="212121"/>
                </a:solidFill>
                <a:latin typeface="Arial" panose="020B0604020202020204"/>
              </a:rPr>
              <a:t>• RTL frozen and tagged (rtl-freeze-blocka).</a:t>
            </a:r>
            <a:endParaRPr sz="10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40"/>
              </a:spcAft>
            </a:pPr>
            <a:r>
              <a:rPr sz="1050">
                <a:solidFill>
                  <a:srgbClr val="212121"/>
                </a:solidFill>
                <a:latin typeface="Arial" panose="020B0604020202020204"/>
              </a:rPr>
              <a:t>• The generator's tapeout gate now describes THIS part; the old PoC no longer qualifies.</a:t>
            </a:r>
            <a:endParaRPr sz="10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40"/>
              </a:spcAft>
            </a:pPr>
            <a:r>
              <a:rPr sz="1050">
                <a:solidFill>
                  <a:srgbClr val="212121"/>
                </a:solidFill>
                <a:latin typeface="Arial" panose="020B0604020202020204"/>
              </a:rPr>
              <a:t>• Reproducible on a fresh clone; the flow carries no absolute paths.</a:t>
            </a:r>
            <a:endParaRPr sz="1050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636008" y="1170432"/>
            <a:ext cx="4041648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1298448"/>
            <a:ext cx="371246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12121"/>
                </a:solidFill>
                <a:latin typeface="Arial" panose="020B0604020202020204"/>
              </a:rPr>
              <a:t>The review finding, resolved</a:t>
            </a:r>
            <a:endParaRPr sz="13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800600" y="1627632"/>
            <a:ext cx="37033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75"/>
              </a:spcAft>
            </a:pPr>
            <a:r>
              <a:rPr sz="1050">
                <a:solidFill>
                  <a:srgbClr val="212121"/>
                </a:solidFill>
                <a:latin typeface="Arial" panose="020B0604020202020204"/>
              </a:rPr>
              <a:t>• Finding: the deck's 1× FazyRV + 2× SERV die, the 7-hart PoC, and core_registry.TAPEOUT_* were three different chips.</a:t>
            </a:r>
            <a:endParaRPr sz="10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75"/>
              </a:spcAft>
            </a:pPr>
            <a:r>
              <a:rPr sz="1050">
                <a:solidFill>
                  <a:srgbClr val="212121"/>
                </a:solidFill>
                <a:latin typeface="Arial" panose="020B0604020202020204"/>
              </a:rPr>
              <a:t>• Now: one config is frozen, declares target: tapeout, and the gate rejects it if any core, memory or platform knob drifts.</a:t>
            </a:r>
            <a:endParaRPr sz="10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75"/>
              </a:spcAft>
            </a:pPr>
            <a:r>
              <a:rPr sz="1050">
                <a:solidFill>
                  <a:srgbClr val="212121"/>
                </a:solidFill>
                <a:latin typeface="Arial" panose="020B0604020202020204"/>
              </a:rPr>
              <a:t>• We fixed the config's own header drift: it read "three SERV" over a list of two, the exact thing you flagged.</a:t>
            </a:r>
            <a:endParaRPr sz="1050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02920" y="3611880"/>
            <a:ext cx="8174736" cy="100584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767328"/>
            <a:ext cx="7863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097A7"/>
                </a:solidFill>
                <a:latin typeface="Arial" panose="020B0604020202020204"/>
              </a:rPr>
              <a:t>One question, answered here:  </a:t>
            </a:r>
            <a:r>
              <a:rPr sz="1150" b="0">
                <a:solidFill>
                  <a:srgbClr val="212121"/>
                </a:solidFill>
                <a:latin typeface="Arial" panose="020B0604020202020204"/>
              </a:rPr>
              <a:t>which configuration are we taping out, and does it pass physical verification end to end? Every number is a measured signoff metric with the command that produced it.</a:t>
            </a:r>
            <a:endParaRPr sz="1150" b="0">
              <a:solidFill>
                <a:srgbClr val="212121"/>
              </a:solidFill>
              <a:latin typeface="Arial" panose="020B0604020202020204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502920" y="4910328"/>
            <a:ext cx="8138160" cy="0"/>
          </a:xfrm>
          <a:prstGeom prst="line">
            <a:avLst/>
          </a:prstGeom>
          <a:ln w="15240">
            <a:solidFill>
              <a:srgbClr val="009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0352" y="4928616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8909C"/>
                </a:solidFill>
                <a:latin typeface="Arial" panose="020B0604020202020204"/>
              </a:rPr>
              <a:t>D15 · MOSAIC-SoC · Chipathon 2026 Layout Review · Block A</a:t>
            </a:r>
            <a:endParaRPr sz="8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46720" y="491947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97A7"/>
                </a:solidFill>
                <a:latin typeface="Arial" panose="020B0604020202020204"/>
              </a:rPr>
              <a:t>02</a:t>
            </a:r>
            <a:endParaRPr sz="900" b="1">
              <a:solidFill>
                <a:srgbClr val="0097A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001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12121"/>
                </a:solidFill>
                <a:latin typeface="Arial" panose="020B0604020202020204"/>
              </a:rPr>
              <a:t>2. Block A: The One Part Being Taped Out</a:t>
            </a:r>
            <a:endParaRPr sz="25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49808"/>
            <a:ext cx="795527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8909C"/>
                </a:solidFill>
                <a:latin typeface="Arial" panose="020B0604020202020204"/>
              </a:rPr>
              <a:t>Neither chip the review saw: a minimal 2-hart SERV SoC that boots and executes from external flash</a:t>
            </a:r>
            <a:endParaRPr sz="11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89520" y="320040"/>
            <a:ext cx="960120" cy="2926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0" y="320040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97A7"/>
                </a:solidFill>
                <a:latin typeface="Arial" panose="020B0604020202020204"/>
              </a:rPr>
              <a:t>FROZEN</a:t>
            </a:r>
            <a:endParaRPr sz="1050" b="1">
              <a:solidFill>
                <a:srgbClr val="0097A7"/>
              </a:solidFill>
              <a:latin typeface="Arial" panose="020B0604020202020204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70432"/>
          <a:ext cx="580644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4434840"/>
              </a:tblGrid>
              <a:tr h="37882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Aspect</a:t>
                      </a:r>
                      <a:endParaRPr sz="10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4450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Block A (frozen)</a:t>
                      </a:r>
                      <a:endParaRPr sz="10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44505A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Harts</a:t>
                      </a:r>
                      <a:endParaRPr sz="9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2 × SERV: TITAN (rv32ic, CSRs, compressed) + worker (rv32i, no CSRs, boot 0x40010000)</a:t>
                      </a:r>
                      <a:endParaRPr sz="9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Memory</a:t>
                      </a:r>
                      <a:endParaRPr sz="9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no SRAM pool · 128 B scratchpad (flip-flops) · 1 KB boot ROM</a:t>
                      </a:r>
                      <a:endParaRPr sz="9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Code</a:t>
                      </a:r>
                      <a:endParaRPr sz="9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XIP: executes in place from external QSPI flash</a:t>
                      </a:r>
                      <a:endParaRPr sz="9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Bus / dispatch</a:t>
                      </a:r>
                      <a:endParaRPr sz="9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OBI crossbar · TDU enabled, dynamic</a:t>
                      </a:r>
                      <a:endParaRPr sz="9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Peripherals</a:t>
                      </a:r>
                      <a:endParaRPr sz="9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UART only</a:t>
                      </a:r>
                      <a:endParaRPr sz="9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88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Removed</a:t>
                      </a:r>
                      <a:endParaRPr sz="9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DMA · debug/JTAG · PLIC · SPI host · AO timer · fast-intr · GPIO</a:t>
                      </a:r>
                      <a:endParaRPr sz="9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46520" y="1170432"/>
            <a:ext cx="2231136" cy="26517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1112" y="1298448"/>
            <a:ext cx="190195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12121"/>
                </a:solidFill>
                <a:latin typeface="Arial" panose="020B0604020202020204"/>
              </a:rPr>
              <a:t>Why it looks like this</a:t>
            </a:r>
            <a:endParaRPr sz="11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83680" y="1600200"/>
            <a:ext cx="19659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75"/>
              </a:spcAft>
            </a:pPr>
            <a:r>
              <a:rPr sz="900">
                <a:solidFill>
                  <a:srgbClr val="212121"/>
                </a:solidFill>
                <a:latin typeface="Arial" panose="020B0604020202020204"/>
              </a:rPr>
              <a:t>• Boot hart is SERV, so the FazyRV boot question is moot; it is not in this part.</a:t>
            </a:r>
            <a:endParaRPr sz="90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75"/>
              </a:spcAft>
            </a:pPr>
            <a:r>
              <a:rPr sz="900">
                <a:solidFill>
                  <a:srgbClr val="212121"/>
                </a:solidFill>
                <a:latin typeface="Arial" panose="020B0604020202020204"/>
              </a:rPr>
              <a:t>• The worker boots dormant; the TDU wake is its only release path.</a:t>
            </a:r>
            <a:endParaRPr sz="90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75"/>
              </a:spcAft>
            </a:pPr>
            <a:r>
              <a:rPr sz="900">
                <a:solidFill>
                  <a:srgbClr val="212121"/>
                </a:solidFill>
                <a:latin typeface="Arial" panose="020B0604020202020204"/>
              </a:rPr>
              <a:t>• status_o[6:0] is the only observability with debug: false.</a:t>
            </a:r>
            <a:endParaRPr sz="90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75"/>
              </a:spcAft>
            </a:pPr>
            <a:r>
              <a:rPr sz="900">
                <a:solidFill>
                  <a:srgbClr val="212121"/>
                </a:solidFill>
                <a:latin typeface="Arial" panose="020B0604020202020204"/>
              </a:rPr>
              <a:t>• All 11 other core IPs stay in the generator; none is in this part.</a:t>
            </a:r>
            <a:endParaRPr sz="900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3977639"/>
            <a:ext cx="8174736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11480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E7D32"/>
                </a:solidFill>
                <a:latin typeface="Arial" panose="020B0604020202020204"/>
              </a:rPr>
              <a:t>Functional verification on this exact config:  </a:t>
            </a:r>
            <a:r>
              <a:rPr sz="1050" b="0">
                <a:solidFill>
                  <a:srgbClr val="212121"/>
                </a:solidFill>
                <a:latin typeface="Arial" panose="020B0604020202020204"/>
              </a:rPr>
              <a:t>boot ROM → QSPI XIP → TDU programming → worker wake → EXIT SUCCESS (both harts report); a separate UART test checks FIFO depth, polled TX, and RX loopback.</a:t>
            </a:r>
            <a:endParaRPr sz="1050" b="0">
              <a:solidFill>
                <a:srgbClr val="212121"/>
              </a:solidFill>
              <a:latin typeface="Arial" panose="020B0604020202020204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502920" y="4910328"/>
            <a:ext cx="8138160" cy="0"/>
          </a:xfrm>
          <a:prstGeom prst="line">
            <a:avLst/>
          </a:prstGeom>
          <a:ln w="15240">
            <a:solidFill>
              <a:srgbClr val="009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0352" y="4928616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8909C"/>
                </a:solidFill>
                <a:latin typeface="Arial" panose="020B0604020202020204"/>
              </a:rPr>
              <a:t>D15 · MOSAIC-SoC · Chipathon 2026 Layout Review · Block A</a:t>
            </a:r>
            <a:endParaRPr sz="8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46720" y="491947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97A7"/>
                </a:solidFill>
                <a:latin typeface="Arial" panose="020B0604020202020204"/>
              </a:rPr>
              <a:t>03</a:t>
            </a:r>
            <a:endParaRPr sz="900" b="1">
              <a:solidFill>
                <a:srgbClr val="0097A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001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12121"/>
                </a:solidFill>
                <a:latin typeface="Arial" panose="020B0604020202020204"/>
              </a:rPr>
              <a:t>3. The Shared MPW Die: Where Block A Sits</a:t>
            </a:r>
            <a:endParaRPr sz="25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49808"/>
            <a:ext cx="795527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8909C"/>
                </a:solidFill>
                <a:latin typeface="Arial" panose="020B0604020202020204"/>
              </a:rPr>
              <a:t>Block A ships as a hard macro into one slot of a shared multi-project die and inherits the project pad ring</a:t>
            </a:r>
            <a:endParaRPr sz="11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89520" y="320040"/>
            <a:ext cx="960120" cy="2926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0" y="320040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97A7"/>
                </a:solidFill>
                <a:latin typeface="Arial" panose="020B0604020202020204"/>
              </a:rPr>
              <a:t>MPW</a:t>
            </a:r>
            <a:endParaRPr sz="1050" b="1">
              <a:solidFill>
                <a:srgbClr val="0097A7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234440"/>
            <a:ext cx="4892040" cy="22716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pw_padring_u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4709160" cy="20887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3615788"/>
            <a:ext cx="4709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8909C"/>
                </a:solidFill>
                <a:latin typeface="Arial" panose="020B0604020202020204"/>
              </a:rPr>
              <a:t>Shared-die plan: 2235 × 2235 µm · 88 pins · 5 block slots (A–E)</a:t>
            </a:r>
            <a:endParaRPr sz="8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86400" y="1234440"/>
            <a:ext cx="3191256" cy="288036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50992" y="1362456"/>
            <a:ext cx="286207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2121"/>
                </a:solidFill>
                <a:latin typeface="Arial" panose="020B0604020202020204"/>
              </a:rPr>
              <a:t>Block A's slot</a:t>
            </a:r>
            <a:endParaRPr sz="12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50992" y="1691640"/>
            <a:ext cx="2880360" cy="2331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</a:pPr>
            <a:r>
              <a:rPr sz="950">
                <a:solidFill>
                  <a:srgbClr val="212121"/>
                </a:solidFill>
                <a:latin typeface="Arial" panose="020B0604020202020204"/>
              </a:rPr>
              <a:t>• 1117.5 × 1117.5 µm, one quarter of the 2235 µm die.</a:t>
            </a:r>
            <a:endParaRPr sz="9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</a:pPr>
            <a:r>
              <a:rPr sz="950">
                <a:solidFill>
                  <a:srgbClr val="212121"/>
                </a:solidFill>
                <a:latin typeface="Arial" panose="020B0604020202020204"/>
              </a:rPr>
              <a:t>• 22-pin budget (20 signal + VDD + VSS).</a:t>
            </a:r>
            <a:endParaRPr sz="9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</a:pPr>
            <a:r>
              <a:rPr sz="950">
                <a:solidFill>
                  <a:srgbClr val="212121"/>
                </a:solidFill>
                <a:latin typeface="Arial" panose="020B0604020202020204"/>
              </a:rPr>
              <a:t>• Delivered as a hard macro with NO pad ring of its own.</a:t>
            </a:r>
            <a:endParaRPr sz="9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</a:pPr>
            <a:r>
              <a:rPr sz="950">
                <a:solidFill>
                  <a:srgbClr val="212121"/>
                </a:solidFill>
                <a:latin typeface="Arial" panose="020B0604020202020204"/>
              </a:rPr>
              <a:t>• Separate power per block; blocks share the common ground.</a:t>
            </a:r>
            <a:endParaRPr sz="9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</a:pPr>
            <a:r>
              <a:rPr sz="950">
                <a:solidFill>
                  <a:srgbClr val="212121"/>
                </a:solidFill>
                <a:latin typeface="Arial" panose="020B0604020202020204"/>
              </a:rPr>
              <a:t>• pad_cfg.py and slot_mosaic.yaml are chip-level artifacts Block A does not use; both now say so in their headers.</a:t>
            </a:r>
            <a:endParaRPr sz="950">
              <a:solidFill>
                <a:srgbClr val="212121"/>
              </a:solidFill>
              <a:latin typeface="Arial" panose="020B0604020202020204"/>
            </a:endParaRPr>
          </a:p>
        </p:txBody>
      </p:sp>
      <p:cxnSp>
        <p:nvCxnSpPr>
          <p:cNvPr id="12" name="Connector 11"/>
          <p:cNvCxnSpPr/>
          <p:nvPr/>
        </p:nvCxnSpPr>
        <p:spPr>
          <a:xfrm>
            <a:off x="502920" y="4910328"/>
            <a:ext cx="8138160" cy="0"/>
          </a:xfrm>
          <a:prstGeom prst="line">
            <a:avLst/>
          </a:prstGeom>
          <a:ln w="15240">
            <a:solidFill>
              <a:srgbClr val="009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0352" y="4928616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8909C"/>
                </a:solidFill>
                <a:latin typeface="Arial" panose="020B0604020202020204"/>
              </a:rPr>
              <a:t>D15 · MOSAIC-SoC · Chipathon 2026 Layout Review · Block A</a:t>
            </a:r>
            <a:endParaRPr sz="8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046720" y="491947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97A7"/>
                </a:solidFill>
                <a:latin typeface="Arial" panose="020B0604020202020204"/>
              </a:rPr>
              <a:t>04</a:t>
            </a:r>
            <a:endParaRPr sz="900" b="1">
              <a:solidFill>
                <a:srgbClr val="0097A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001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12121"/>
                </a:solidFill>
                <a:latin typeface="Arial" panose="020B0604020202020204"/>
              </a:rPr>
              <a:t>4. Fitting the 1.25 mm² Budget</a:t>
            </a:r>
            <a:endParaRPr sz="25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84226" y="749808"/>
            <a:ext cx="795527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8909C"/>
                </a:solidFill>
                <a:latin typeface="Arial" panose="020B0604020202020204"/>
              </a:rPr>
              <a:t>Area fell from 3.903 to 1.249 mm² (−68%) through measured cuts. The biggest lever: leaving memory off-chip</a:t>
            </a:r>
            <a:endParaRPr sz="11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89520" y="320040"/>
            <a:ext cx="960120" cy="2926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0" y="320040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97A7"/>
                </a:solidFill>
                <a:latin typeface="Arial" panose="020B0604020202020204"/>
              </a:rPr>
              <a:t>AREA</a:t>
            </a:r>
            <a:endParaRPr sz="1050" b="1">
              <a:solidFill>
                <a:srgbClr val="0097A7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51460" y="1234440"/>
            <a:ext cx="1920240" cy="7498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" y="1307592"/>
            <a:ext cx="170078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78909C"/>
                </a:solidFill>
                <a:latin typeface="Arial" panose="020B0604020202020204"/>
              </a:rPr>
              <a:t>3.903</a:t>
            </a:r>
            <a:endParaRPr sz="2200" b="1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1188" y="1636776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8909C"/>
                </a:solidFill>
                <a:latin typeface="Arial" panose="020B0604020202020204"/>
              </a:rPr>
              <a:t>mm² · starting point</a:t>
            </a:r>
            <a:endParaRPr sz="9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5708" y="1371600"/>
            <a:ext cx="3200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D9E1E8"/>
                </a:solidFill>
                <a:latin typeface="Arial" panose="020B0604020202020204"/>
              </a:rPr>
              <a:t>→</a:t>
            </a:r>
            <a:endParaRPr sz="2800" b="1">
              <a:solidFill>
                <a:srgbClr val="D9E1E8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2583180" y="1234440"/>
            <a:ext cx="1920240" cy="7498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2908" y="1307592"/>
            <a:ext cx="170078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E7D32"/>
                </a:solidFill>
                <a:latin typeface="Arial" panose="020B0604020202020204"/>
              </a:rPr>
              <a:t>1.249</a:t>
            </a:r>
            <a:endParaRPr sz="2200" b="1">
              <a:solidFill>
                <a:srgbClr val="2E7D32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692908" y="1636776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8909C"/>
                </a:solidFill>
                <a:latin typeface="Arial" panose="020B0604020202020204"/>
              </a:rPr>
              <a:t>mm² · hardened Block A</a:t>
            </a:r>
            <a:endParaRPr sz="9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686300" y="1234440"/>
            <a:ext cx="1920240" cy="7498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96028" y="1307592"/>
            <a:ext cx="170078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285F4"/>
                </a:solidFill>
                <a:latin typeface="Arial" panose="020B0604020202020204"/>
              </a:rPr>
              <a:t>−68%</a:t>
            </a:r>
            <a:endParaRPr sz="2200" b="1">
              <a:solidFill>
                <a:srgbClr val="4285F4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96028" y="1636776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8909C"/>
                </a:solidFill>
                <a:latin typeface="Arial" panose="020B0604020202020204"/>
              </a:rPr>
              <a:t>measured reduction</a:t>
            </a:r>
            <a:endParaRPr sz="9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917055" y="1234440"/>
            <a:ext cx="1920240" cy="7498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26783" y="1307592"/>
            <a:ext cx="170078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97A7"/>
                </a:solidFill>
                <a:latin typeface="Arial" panose="020B0604020202020204"/>
              </a:rPr>
              <a:t>84.4%</a:t>
            </a:r>
            <a:endParaRPr sz="2200" b="1">
              <a:solidFill>
                <a:srgbClr val="0097A7"/>
              </a:solidFill>
              <a:latin typeface="Arial" panose="020B0604020202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26783" y="1636776"/>
            <a:ext cx="170078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8909C"/>
                </a:solidFill>
                <a:latin typeface="Arial" panose="020B0604020202020204"/>
              </a:rPr>
              <a:t>std-cell utilization</a:t>
            </a:r>
            <a:endParaRPr sz="9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2920" y="2286000"/>
            <a:ext cx="404164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" y="2414016"/>
            <a:ext cx="371246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2121"/>
                </a:solidFill>
                <a:latin typeface="Arial" panose="020B0604020202020204"/>
              </a:rPr>
              <a:t>Why no on-chip SRAM</a:t>
            </a:r>
            <a:endParaRPr sz="12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67512" y="2724912"/>
            <a:ext cx="37033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5"/>
              </a:spcAft>
            </a:pPr>
            <a:r>
              <a:rPr sz="950">
                <a:solidFill>
                  <a:srgbClr val="212121"/>
                </a:solidFill>
                <a:latin typeface="Arial" panose="020B0604020202020204"/>
              </a:rPr>
              <a:t>• GF180's largest SRAM macro holds 512 B and costs 0.209 mm².</a:t>
            </a:r>
            <a:endParaRPr sz="9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5"/>
              </a:spcAft>
            </a:pPr>
            <a:r>
              <a:rPr sz="950">
                <a:solidFill>
                  <a:srgbClr val="212121"/>
                </a:solidFill>
                <a:latin typeface="Arial" panose="020B0604020202020204"/>
              </a:rPr>
              <a:t>• On-chip SRAM costs 0.419 mm² per KB. At 32 KB (the old target) that is 13.4 mm², over 10× the whole budget.</a:t>
            </a:r>
            <a:endParaRPr sz="9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5"/>
              </a:spcAft>
            </a:pPr>
            <a:r>
              <a:rPr sz="950">
                <a:solidFill>
                  <a:srgbClr val="212121"/>
                </a:solidFill>
                <a:latin typeface="Arial" panose="020B0604020202020204"/>
              </a:rPr>
              <a:t>• Code executes XIP from external QSPI flash; on-chip holds a 128 B scratchpad and 1 KB boot ROM.</a:t>
            </a:r>
            <a:endParaRPr sz="950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636008" y="2286000"/>
            <a:ext cx="404164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2414016"/>
            <a:ext cx="371246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2121"/>
                </a:solidFill>
                <a:latin typeface="Arial" panose="020B0604020202020204"/>
              </a:rPr>
              <a:t>Where the die goes</a:t>
            </a:r>
            <a:endParaRPr sz="12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00600" y="2724912"/>
            <a:ext cx="37033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5"/>
              </a:spcAft>
            </a:pPr>
            <a:r>
              <a:rPr sz="950">
                <a:solidFill>
                  <a:srgbClr val="212121"/>
                </a:solidFill>
                <a:latin typeface="Arial" panose="020B0604020202020204"/>
              </a:rPr>
              <a:t>• The two SERV cores take ~2% of the die; the platform around them is the area.</a:t>
            </a:r>
            <a:endParaRPr sz="9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5"/>
              </a:spcAft>
            </a:pPr>
            <a:r>
              <a:rPr sz="950">
                <a:solidFill>
                  <a:srgbClr val="212121"/>
                </a:solidFill>
                <a:latin typeface="Arial" panose="020B0604020202020204"/>
              </a:rPr>
              <a:t>• SERV is 8.7× smaller than FazyRV (0.021 vs 0.183 mm²), which is why the boot hart is SERV.</a:t>
            </a:r>
            <a:endParaRPr sz="9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5"/>
              </a:spcAft>
            </a:pPr>
            <a:r>
              <a:rPr sz="950">
                <a:solidFill>
                  <a:srgbClr val="212121"/>
                </a:solidFill>
                <a:latin typeface="Arial" panose="020B0604020202020204"/>
              </a:rPr>
              <a:t>• Biggest cuts: DMA −0.355, debug+PLIC −0.512, full SPI host → XIP reader −0.69 mm².</a:t>
            </a:r>
            <a:endParaRPr sz="950">
              <a:solidFill>
                <a:srgbClr val="212121"/>
              </a:solidFill>
              <a:latin typeface="Arial" panose="020B0604020202020204"/>
            </a:endParaRPr>
          </a:p>
        </p:txBody>
      </p:sp>
      <p:cxnSp>
        <p:nvCxnSpPr>
          <p:cNvPr id="25" name="Connector 24"/>
          <p:cNvCxnSpPr/>
          <p:nvPr/>
        </p:nvCxnSpPr>
        <p:spPr>
          <a:xfrm>
            <a:off x="502920" y="4910328"/>
            <a:ext cx="8138160" cy="0"/>
          </a:xfrm>
          <a:prstGeom prst="line">
            <a:avLst/>
          </a:prstGeom>
          <a:ln w="15240">
            <a:solidFill>
              <a:srgbClr val="009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0352" y="4928616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8909C"/>
                </a:solidFill>
                <a:latin typeface="Arial" panose="020B0604020202020204"/>
              </a:rPr>
              <a:t>D15 · MOSAIC-SoC · Chipathon 2026 Layout Review · Block A</a:t>
            </a:r>
            <a:endParaRPr sz="8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046720" y="491947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97A7"/>
                </a:solidFill>
                <a:latin typeface="Arial" panose="020B0604020202020204"/>
              </a:rPr>
              <a:t>05</a:t>
            </a:r>
            <a:endParaRPr sz="900" b="1">
              <a:solidFill>
                <a:srgbClr val="0097A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001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12121"/>
                </a:solidFill>
                <a:latin typeface="Arial" panose="020B0604020202020204"/>
              </a:rPr>
              <a:t>5. Post-Synthesis Area</a:t>
            </a:r>
            <a:endParaRPr sz="25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49808"/>
            <a:ext cx="795527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8909C"/>
                </a:solidFill>
                <a:latin typeface="Arial" panose="020B0604020202020204"/>
              </a:rPr>
              <a:t>Standard-cell area straight out of Yosys, before placement fill and the clock tree. The figure the reviewer asked for</a:t>
            </a:r>
            <a:endParaRPr sz="11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89520" y="320040"/>
            <a:ext cx="960120" cy="2926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0" y="320040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97A7"/>
                </a:solidFill>
                <a:latin typeface="Arial" panose="020B0604020202020204"/>
              </a:rPr>
              <a:t>SYNTH</a:t>
            </a:r>
            <a:endParaRPr sz="1050" b="1">
              <a:solidFill>
                <a:srgbClr val="0097A7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14960" y="1234440"/>
            <a:ext cx="2651760" cy="7498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4688" y="1307592"/>
            <a:ext cx="24323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285F4"/>
                </a:solidFill>
                <a:latin typeface="Arial" panose="020B0604020202020204"/>
              </a:rPr>
              <a:t>0.855 mm²</a:t>
            </a:r>
            <a:endParaRPr sz="2000" b="1">
              <a:solidFill>
                <a:srgbClr val="4285F4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24688" y="1636776"/>
            <a:ext cx="243230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8909C"/>
                </a:solidFill>
                <a:latin typeface="Arial" panose="020B0604020202020204"/>
              </a:rPr>
              <a:t>post-synthesis cell area</a:t>
            </a:r>
            <a:endParaRPr sz="9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216910" y="1234440"/>
            <a:ext cx="2651760" cy="7498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26638" y="1307592"/>
            <a:ext cx="24323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097A7"/>
                </a:solidFill>
                <a:latin typeface="Arial" panose="020B0604020202020204"/>
              </a:rPr>
              <a:t>33 852</a:t>
            </a:r>
            <a:endParaRPr sz="2000" b="1">
              <a:solidFill>
                <a:srgbClr val="0097A7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26638" y="1636776"/>
            <a:ext cx="243230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8909C"/>
                </a:solidFill>
                <a:latin typeface="Arial" panose="020B0604020202020204"/>
              </a:rPr>
              <a:t>standard cells</a:t>
            </a:r>
            <a:endParaRPr sz="9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114415" y="1234440"/>
            <a:ext cx="2651760" cy="7498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4143" y="1307592"/>
            <a:ext cx="24323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AB40"/>
                </a:solidFill>
                <a:latin typeface="Arial" panose="020B0604020202020204"/>
              </a:rPr>
              <a:t>5 587</a:t>
            </a:r>
            <a:endParaRPr sz="2000" b="1">
              <a:solidFill>
                <a:srgbClr val="FFAB40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24143" y="1636776"/>
            <a:ext cx="243230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8909C"/>
                </a:solidFill>
                <a:latin typeface="Arial" panose="020B0604020202020204"/>
              </a:rPr>
              <a:t>flip-flops (sequential)</a:t>
            </a:r>
            <a:endParaRPr sz="9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2920" y="2286000"/>
            <a:ext cx="404164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2414016"/>
            <a:ext cx="371246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2121"/>
                </a:solidFill>
                <a:latin typeface="Arial" panose="020B0604020202020204"/>
              </a:rPr>
              <a:t>From synthesis to the die</a:t>
            </a:r>
            <a:endParaRPr sz="12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7512" y="2724912"/>
            <a:ext cx="37033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</a:pPr>
            <a:r>
              <a:rPr sz="950">
                <a:solidFill>
                  <a:srgbClr val="212121"/>
                </a:solidFill>
                <a:latin typeface="Arial" panose="020B0604020202020204"/>
              </a:rPr>
              <a:t>• Yosys synthesis: 854,954 µm² of standard cells (33,852 cells, 5,587 flops).</a:t>
            </a:r>
            <a:endParaRPr sz="9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</a:pPr>
            <a:r>
              <a:rPr sz="950">
                <a:solidFill>
                  <a:srgbClr val="212121"/>
                </a:solidFill>
                <a:latin typeface="Arial" panose="020B0604020202020204"/>
              </a:rPr>
              <a:t>• Place &amp; route sizes and buffers it to 0.987 mm² of std-cell area.</a:t>
            </a:r>
            <a:endParaRPr sz="9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</a:pPr>
            <a:r>
              <a:rPr sz="950">
                <a:solidFill>
                  <a:srgbClr val="212121"/>
                </a:solidFill>
                <a:latin typeface="Arial" panose="020B0604020202020204"/>
              </a:rPr>
              <a:t>• Hardened die: 1.2488 mm² at 84.4% utilization.</a:t>
            </a:r>
            <a:endParaRPr sz="950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636008" y="2286000"/>
            <a:ext cx="404164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2414016"/>
            <a:ext cx="371246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2121"/>
                </a:solidFill>
                <a:latin typeface="Arial" panose="020B0604020202020204"/>
              </a:rPr>
              <a:t>What the area is made of</a:t>
            </a:r>
            <a:endParaRPr sz="12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4828032" y="2761488"/>
            <a:ext cx="1609344" cy="219456"/>
          </a:xfrm>
          <a:prstGeom prst="roundRect">
            <a:avLst/>
          </a:prstGeom>
          <a:solidFill>
            <a:srgbClr val="FFAB40"/>
          </a:solidFill>
          <a:ln w="12700"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37376" y="2761488"/>
            <a:ext cx="2048256" cy="219456"/>
          </a:xfrm>
          <a:prstGeom prst="roundRect">
            <a:avLst/>
          </a:prstGeom>
          <a:solidFill>
            <a:srgbClr val="0097A7"/>
          </a:solidFill>
          <a:ln w="1270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28032" y="301752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AB40"/>
                </a:solidFill>
                <a:latin typeface="Arial" panose="020B0604020202020204"/>
              </a:rPr>
              <a:t>Sequential 0.373 mm² · 44%</a:t>
            </a:r>
            <a:endParaRPr sz="850" b="1">
              <a:solidFill>
                <a:srgbClr val="FFAB40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828032" y="3017520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0097A7"/>
                </a:solidFill>
                <a:latin typeface="Arial" panose="020B0604020202020204"/>
              </a:rPr>
              <a:t>Combinational 0.482 mm² · 56%</a:t>
            </a:r>
            <a:endParaRPr sz="850" b="1">
              <a:solidFill>
                <a:srgbClr val="0097A7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00600" y="3310128"/>
            <a:ext cx="37033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30"/>
              </a:spcAft>
            </a:pPr>
            <a:r>
              <a:rPr sz="900">
                <a:solidFill>
                  <a:srgbClr val="212121"/>
                </a:solidFill>
                <a:latin typeface="Arial" panose="020B0604020202020204"/>
              </a:rPr>
              <a:t>• Flop-heavy by design: the 128 B scratchpad is flip-flops (1,024 bits), plus the two SERV register files and control.</a:t>
            </a:r>
            <a:endParaRPr sz="90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30"/>
              </a:spcAft>
            </a:pPr>
            <a:r>
              <a:rPr sz="900">
                <a:solidFill>
                  <a:srgbClr val="212121"/>
                </a:solidFill>
                <a:latin typeface="Arial" panose="020B0604020202020204"/>
              </a:rPr>
              <a:t>• Flip-flops alone (dffq) are ~0.26 mm², the single largest cell type.</a:t>
            </a:r>
            <a:endParaRPr sz="900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4407408"/>
            <a:ext cx="81381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8909C"/>
                </a:solidFill>
                <a:latin typeface="Arial" panose="020B0604020202020204"/>
              </a:rPr>
              <a:t>Source: runs/blocka_signoff/06-yosys-synthesis/reports/stat.rpt (GF180MCU 7-track, 5 V library).</a:t>
            </a:r>
            <a:endParaRPr sz="850" b="0">
              <a:solidFill>
                <a:srgbClr val="78909C"/>
              </a:solidFill>
              <a:latin typeface="Arial" panose="020B0604020202020204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02920" y="4910328"/>
            <a:ext cx="8138160" cy="0"/>
          </a:xfrm>
          <a:prstGeom prst="line">
            <a:avLst/>
          </a:prstGeom>
          <a:ln w="15240">
            <a:solidFill>
              <a:srgbClr val="009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30352" y="4928616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8909C"/>
                </a:solidFill>
                <a:latin typeface="Arial" panose="020B0604020202020204"/>
              </a:rPr>
              <a:t>D15 · MOSAIC-SoC · Chipathon 2026 Layout Review · Block A</a:t>
            </a:r>
            <a:endParaRPr sz="8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46720" y="491947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97A7"/>
                </a:solidFill>
                <a:latin typeface="Arial" panose="020B0604020202020204"/>
              </a:rPr>
              <a:t>06</a:t>
            </a:r>
            <a:endParaRPr sz="900" b="1">
              <a:solidFill>
                <a:srgbClr val="0097A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001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12121"/>
                </a:solidFill>
                <a:latin typeface="Arial" panose="020B0604020202020204"/>
              </a:rPr>
              <a:t>6. The Layout: Signed-Off GF180 Macro</a:t>
            </a:r>
            <a:endParaRPr sz="25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49808"/>
            <a:ext cx="795527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8909C"/>
                </a:solidFill>
                <a:latin typeface="Arial" panose="020B0604020202020204"/>
              </a:rPr>
              <a:t>KLayout render of the routed, DRC/LVS-clean Block A macro. The real GDS lives in flow/.../runs/blocka_signoff/final/</a:t>
            </a:r>
            <a:endParaRPr sz="11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89520" y="320040"/>
            <a:ext cx="960120" cy="2926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0" y="320040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97A7"/>
                </a:solidFill>
                <a:latin typeface="Arial" panose="020B0604020202020204"/>
              </a:rPr>
              <a:t>LAYOUT</a:t>
            </a:r>
            <a:endParaRPr sz="1050" b="1">
              <a:solidFill>
                <a:srgbClr val="0097A7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57200" y="1207008"/>
            <a:ext cx="3547872" cy="3547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locka_gd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105" y="1477010"/>
            <a:ext cx="3261995" cy="30295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4773168"/>
            <a:ext cx="35661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8909C"/>
                </a:solidFill>
                <a:latin typeface="Arial" panose="020B0604020202020204"/>
              </a:rPr>
              <a:t>mosaic_block_a full-chip GDS (metal fill shown)</a:t>
            </a:r>
            <a:endParaRPr sz="8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251960" y="1280160"/>
            <a:ext cx="4425696" cy="43891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335024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97A7"/>
                </a:solidFill>
                <a:latin typeface="Arial" panose="020B0604020202020204"/>
              </a:rPr>
              <a:t>Die</a:t>
            </a:r>
            <a:endParaRPr sz="1050" b="1">
              <a:solidFill>
                <a:srgbClr val="0097A7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9280" y="1335024"/>
            <a:ext cx="29260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12121"/>
                </a:solidFill>
                <a:latin typeface="Arial" panose="020B0604020202020204"/>
              </a:rPr>
              <a:t>1117.5 × 1117.5 µm = 1.2488 mm²</a:t>
            </a:r>
            <a:endParaRPr sz="1050" b="0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251960" y="1792224"/>
            <a:ext cx="4425696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847088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97A7"/>
                </a:solidFill>
                <a:latin typeface="Arial" panose="020B0604020202020204"/>
              </a:rPr>
              <a:t>Std cells</a:t>
            </a:r>
            <a:endParaRPr sz="1050" b="1">
              <a:solidFill>
                <a:srgbClr val="0097A7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69280" y="1847088"/>
            <a:ext cx="29260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12121"/>
                </a:solidFill>
                <a:latin typeface="Arial" panose="020B0604020202020204"/>
              </a:rPr>
              <a:t>44 355 placed · 84.4% utilization</a:t>
            </a:r>
            <a:endParaRPr sz="1050" b="0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251960" y="2304288"/>
            <a:ext cx="4425696" cy="43891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2359152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97A7"/>
                </a:solidFill>
                <a:latin typeface="Arial" panose="020B0604020202020204"/>
              </a:rPr>
              <a:t>Metal</a:t>
            </a:r>
            <a:endParaRPr sz="1050" b="1">
              <a:solidFill>
                <a:srgbClr val="0097A7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9280" y="2359152"/>
            <a:ext cx="29260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12121"/>
                </a:solidFill>
                <a:latin typeface="Arial" panose="020B0604020202020204"/>
              </a:rPr>
              <a:t>GF180MCU 5-layer (Metal1–Metal5)</a:t>
            </a:r>
            <a:endParaRPr sz="1050" b="0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251960" y="2816352"/>
            <a:ext cx="4425696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2871216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97A7"/>
                </a:solidFill>
                <a:latin typeface="Arial" panose="020B0604020202020204"/>
              </a:rPr>
              <a:t>Power</a:t>
            </a:r>
            <a:endParaRPr sz="1050" b="1">
              <a:solidFill>
                <a:srgbClr val="0097A7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669280" y="2871216"/>
            <a:ext cx="29260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12121"/>
                </a:solidFill>
                <a:latin typeface="Arial" panose="020B0604020202020204"/>
              </a:rPr>
              <a:t>5 V · uniform PDN mesh, 0 grid violations</a:t>
            </a:r>
            <a:endParaRPr sz="1050" b="0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251960" y="3328416"/>
            <a:ext cx="4425696" cy="43891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3383280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97A7"/>
                </a:solidFill>
                <a:latin typeface="Arial" panose="020B0604020202020204"/>
              </a:rPr>
              <a:t>Clock</a:t>
            </a:r>
            <a:endParaRPr sz="1050" b="1">
              <a:solidFill>
                <a:srgbClr val="0097A7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69280" y="3383280"/>
            <a:ext cx="29260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12121"/>
                </a:solidFill>
                <a:latin typeface="Arial" panose="020B0604020202020204"/>
              </a:rPr>
              <a:t>10 MHz (100 ns), conservative on purpose</a:t>
            </a:r>
            <a:endParaRPr sz="1050" b="0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4251960" y="3840480"/>
            <a:ext cx="4425696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0" y="3895344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97A7"/>
                </a:solidFill>
                <a:latin typeface="Arial" panose="020B0604020202020204"/>
              </a:rPr>
              <a:t>Macros</a:t>
            </a:r>
            <a:endParaRPr sz="1050" b="1">
              <a:solidFill>
                <a:srgbClr val="0097A7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69280" y="3895344"/>
            <a:ext cx="292608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212121"/>
                </a:solidFill>
                <a:latin typeface="Arial" panose="020B0604020202020204"/>
              </a:rPr>
              <a:t>none bound (no SRAM or analog macro)</a:t>
            </a:r>
            <a:endParaRPr sz="1050" b="0">
              <a:solidFill>
                <a:srgbClr val="212121"/>
              </a:solidFill>
              <a:latin typeface="Arial" panose="020B0604020202020204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502920" y="4910328"/>
            <a:ext cx="8138160" cy="0"/>
          </a:xfrm>
          <a:prstGeom prst="line">
            <a:avLst/>
          </a:prstGeom>
          <a:ln w="15240">
            <a:solidFill>
              <a:srgbClr val="009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30352" y="4928616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8909C"/>
                </a:solidFill>
                <a:latin typeface="Arial" panose="020B0604020202020204"/>
              </a:rPr>
              <a:t>D15 · MOSAIC-SoC · Chipathon 2026 Layout Review · Block A</a:t>
            </a:r>
            <a:endParaRPr sz="8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046720" y="491947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97A7"/>
                </a:solidFill>
                <a:latin typeface="Arial" panose="020B0604020202020204"/>
              </a:rPr>
              <a:t>07</a:t>
            </a:r>
            <a:endParaRPr sz="900" b="1">
              <a:solidFill>
                <a:srgbClr val="0097A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001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12121"/>
                </a:solidFill>
                <a:latin typeface="Arial" panose="020B0604020202020204"/>
              </a:rPr>
              <a:t>7. The 22-Pin Interface: LVS-Verified</a:t>
            </a:r>
            <a:endParaRPr sz="25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98703"/>
            <a:ext cx="7955279" cy="176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8909C"/>
                </a:solidFill>
                <a:latin typeface="Arial" panose="020B0604020202020204"/>
              </a:rPr>
              <a:t>Netgen matched this pin list against the extracted layout and reported "circuits match uniquely"</a:t>
            </a:r>
            <a:r>
              <a:rPr lang="fr-FR" sz="1150" b="0">
                <a:solidFill>
                  <a:srgbClr val="78909C"/>
                </a:solidFill>
                <a:latin typeface="Arial" panose="020B0604020202020204"/>
              </a:rPr>
              <a:t>, all pins are digital</a:t>
            </a:r>
            <a:endParaRPr lang="fr-FR" sz="11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89520" y="320040"/>
            <a:ext cx="960120" cy="2926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0" y="320040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97A7"/>
                </a:solidFill>
                <a:latin typeface="Arial" panose="020B0604020202020204"/>
              </a:rPr>
              <a:t>PINS</a:t>
            </a:r>
            <a:endParaRPr sz="1050" b="1">
              <a:solidFill>
                <a:srgbClr val="0097A7"/>
              </a:solidFill>
              <a:latin typeface="Arial" panose="020B0604020202020204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397764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1600200"/>
                <a:gridCol w="502920"/>
                <a:gridCol w="1371600"/>
              </a:tblGrid>
              <a:tr h="2997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#</a:t>
                      </a:r>
                      <a:endParaRPr sz="9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4450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Pin</a:t>
                      </a:r>
                      <a:endParaRPr sz="9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4450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Dir</a:t>
                      </a:r>
                      <a:endParaRPr sz="9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4450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Function</a:t>
                      </a:r>
                      <a:endParaRPr sz="9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44505A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1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clk_i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in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clock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2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rst_ni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in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reset, active-low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3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boot_select_i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in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boot source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4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execute_from_flash_i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in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XIP enable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5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uart_rx_i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in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UART receive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6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uart_tx_o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out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UART transmit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7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spi_flash_sck_o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out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QSPI clock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8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spi_flash_cs_o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out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QSPI chip-select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663440" y="1188720"/>
          <a:ext cx="402336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600200"/>
                <a:gridCol w="548640"/>
                <a:gridCol w="1234440"/>
              </a:tblGrid>
              <a:tr h="2997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#</a:t>
                      </a:r>
                      <a:endParaRPr sz="9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4450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Pin</a:t>
                      </a:r>
                      <a:endParaRPr sz="9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4450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Dir</a:t>
                      </a:r>
                      <a:endParaRPr sz="9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4450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Function</a:t>
                      </a:r>
                      <a:endParaRPr sz="9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44505A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9–12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spi_flash_sd_io[3:0]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inout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QSPI data (true tristate)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13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status_valid_o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out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exit-value strobe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14–20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status_o[6:0]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out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exit value (only observability)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21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VDD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pwr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5 V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22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VSS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pwr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ground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9972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4023360"/>
            <a:ext cx="8174736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97A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4160520"/>
            <a:ext cx="78638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62828"/>
                </a:solidFill>
                <a:latin typeface="Arial" panose="020B0604020202020204"/>
              </a:rPr>
              <a:t>status_o[6:0] must be bonded.  </a:t>
            </a:r>
            <a:r>
              <a:rPr sz="1050" b="0">
                <a:solidFill>
                  <a:srgbClr val="212121"/>
                </a:solidFill>
                <a:latin typeface="Arial" panose="020B0604020202020204"/>
              </a:rPr>
              <a:t>With debug: false and no JTAG, it is the part's only external observability. It drives status_o / status_valid_o from the soc_ctrl exit register.</a:t>
            </a:r>
            <a:endParaRPr sz="1050" b="0">
              <a:solidFill>
                <a:srgbClr val="212121"/>
              </a:solidFill>
              <a:latin typeface="Arial" panose="020B0604020202020204"/>
            </a:endParaRPr>
          </a:p>
        </p:txBody>
      </p:sp>
      <p:cxnSp>
        <p:nvCxnSpPr>
          <p:cNvPr id="10" name="Connector 9"/>
          <p:cNvCxnSpPr/>
          <p:nvPr/>
        </p:nvCxnSpPr>
        <p:spPr>
          <a:xfrm>
            <a:off x="502920" y="4910328"/>
            <a:ext cx="8138160" cy="0"/>
          </a:xfrm>
          <a:prstGeom prst="line">
            <a:avLst/>
          </a:prstGeom>
          <a:ln w="15240">
            <a:solidFill>
              <a:srgbClr val="009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30352" y="4928616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8909C"/>
                </a:solidFill>
                <a:latin typeface="Arial" panose="020B0604020202020204"/>
              </a:rPr>
              <a:t>D15 · MOSAIC-SoC · Chipathon 2026 Layout Review · Block A</a:t>
            </a:r>
            <a:endParaRPr sz="8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046720" y="491947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97A7"/>
                </a:solidFill>
                <a:latin typeface="Arial" panose="020B0604020202020204"/>
              </a:rPr>
              <a:t>08</a:t>
            </a:r>
            <a:endParaRPr sz="900" b="1">
              <a:solidFill>
                <a:srgbClr val="0097A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001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12121"/>
                </a:solidFill>
                <a:latin typeface="Arial" panose="020B0604020202020204"/>
              </a:rPr>
              <a:t>8. Signoff Results: Nothing Skipped</a:t>
            </a:r>
            <a:endParaRPr sz="25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49808"/>
            <a:ext cx="795527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8909C"/>
                </a:solidFill>
                <a:latin typeface="Arial" panose="020B0604020202020204"/>
              </a:rPr>
              <a:t>flow/librelane/experimental/run_signoff.sh. The runner refuses to start if its config contains a step substitution</a:t>
            </a:r>
            <a:endParaRPr sz="11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89520" y="320040"/>
            <a:ext cx="960120" cy="2926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0" y="320040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97A7"/>
                </a:solidFill>
                <a:latin typeface="Arial" panose="020B0604020202020204"/>
              </a:rPr>
              <a:t>SIGNOFF</a:t>
            </a:r>
            <a:endParaRPr sz="1050" b="1">
              <a:solidFill>
                <a:srgbClr val="0097A7"/>
              </a:solidFill>
              <a:latin typeface="Arial" panose="020B0604020202020204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07008"/>
          <a:ext cx="8174736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1737360"/>
                <a:gridCol w="2423160"/>
                <a:gridCol w="1682496"/>
              </a:tblGrid>
              <a:tr h="3592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Check</a:t>
                      </a:r>
                      <a:endParaRPr sz="10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4450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Result</a:t>
                      </a:r>
                      <a:endParaRPr sz="10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4450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Check</a:t>
                      </a:r>
                      <a:endParaRPr sz="10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4450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Result</a:t>
                      </a:r>
                      <a:endParaRPr sz="105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44505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Magic DRC</a:t>
                      </a:r>
                      <a:endParaRPr sz="10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0</a:t>
                      </a:r>
                      <a:endParaRPr sz="10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Netgen LVS</a:t>
                      </a:r>
                      <a:endParaRPr sz="10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match uniquely</a:t>
                      </a:r>
                      <a:endParaRPr sz="10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KLayout DRC</a:t>
                      </a:r>
                      <a:endParaRPr sz="10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0</a:t>
                      </a:r>
                      <a:endParaRPr sz="10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LVS unmatched dev/net/pin</a:t>
                      </a:r>
                      <a:endParaRPr sz="10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0 / 0 / 0</a:t>
                      </a:r>
                      <a:endParaRPr sz="10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KLayout↔Magic XOR</a:t>
                      </a:r>
                      <a:endParaRPr sz="10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0</a:t>
                      </a:r>
                      <a:endParaRPr sz="10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Antenna</a:t>
                      </a:r>
                      <a:endParaRPr sz="10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0</a:t>
                      </a:r>
                      <a:endParaRPr sz="10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Routing DRC</a:t>
                      </a:r>
                      <a:endParaRPr sz="10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0</a:t>
                      </a:r>
                      <a:endParaRPr sz="10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Disconnected pins</a:t>
                      </a:r>
                      <a:endParaRPr sz="10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0</a:t>
                      </a:r>
                      <a:endParaRPr sz="10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Magic illegal overlap</a:t>
                      </a:r>
                      <a:endParaRPr sz="10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0</a:t>
                      </a:r>
                      <a:endParaRPr sz="10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Power-grid violations</a:t>
                      </a:r>
                      <a:endParaRPr sz="10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0 (VDD, VSS)</a:t>
                      </a:r>
                      <a:endParaRPr sz="10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</a:tr>
              <a:tr h="35923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Worst IR drop</a:t>
                      </a:r>
                      <a:endParaRPr sz="10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120 µV on 5 V</a:t>
                      </a:r>
                      <a:endParaRPr sz="10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Std-cell utilization</a:t>
                      </a:r>
                      <a:endParaRPr sz="10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84.4%</a:t>
                      </a:r>
                      <a:endParaRPr sz="10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E6F4E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886200"/>
            <a:ext cx="8174736" cy="7498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023360"/>
            <a:ext cx="7863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097A7"/>
                </a:solidFill>
                <a:latin typeface="Arial" panose="020B0604020202020204"/>
              </a:rPr>
              <a:t>LVS ran against the extracted layout, not the wrapper.  </a:t>
            </a:r>
            <a:r>
              <a:rPr sz="1000" b="0">
                <a:solidFill>
                  <a:srgbClr val="212121"/>
                </a:solidFill>
                <a:latin typeface="Arial" panose="020B0604020202020204"/>
              </a:rPr>
              <a:t>Netgen reported "Cell pin lists are equivalent" and "Circuits match uniquely": 0 unmatched devices, nets, or pins on the 22-pin contract. None of DRC, LVS, XOR, antenna, or the power grid carries a waiver; all returned zero without one.</a:t>
            </a:r>
            <a:endParaRPr sz="1000" b="0">
              <a:solidFill>
                <a:srgbClr val="212121"/>
              </a:solidFill>
              <a:latin typeface="Arial" panose="020B0604020202020204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502920" y="4910328"/>
            <a:ext cx="8138160" cy="0"/>
          </a:xfrm>
          <a:prstGeom prst="line">
            <a:avLst/>
          </a:prstGeom>
          <a:ln w="15240">
            <a:solidFill>
              <a:srgbClr val="009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0352" y="4928616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8909C"/>
                </a:solidFill>
                <a:latin typeface="Arial" panose="020B0604020202020204"/>
              </a:rPr>
              <a:t>D15 · MOSAIC-SoC · Chipathon 2026 Layout Review · Block A</a:t>
            </a:r>
            <a:endParaRPr sz="8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46720" y="491947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97A7"/>
                </a:solidFill>
                <a:latin typeface="Arial" panose="020B0604020202020204"/>
              </a:rPr>
              <a:t>09</a:t>
            </a:r>
            <a:endParaRPr sz="900" b="1">
              <a:solidFill>
                <a:srgbClr val="0097A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001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12121"/>
                </a:solidFill>
                <a:latin typeface="Arial" panose="020B0604020202020204"/>
              </a:rPr>
              <a:t>9. Timing Closure: All Nine Corners</a:t>
            </a:r>
            <a:endParaRPr sz="25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49808"/>
            <a:ext cx="795527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8909C"/>
                </a:solidFill>
                <a:latin typeface="Arial" panose="020B0604020202020204"/>
              </a:rPr>
              <a:t>Setup and hold stay positive at every process/voltage/temperature corner, TNS 0. The part is nowhere near its limit</a:t>
            </a:r>
            <a:endParaRPr sz="11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89520" y="320040"/>
            <a:ext cx="960120" cy="2926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0" y="320040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97A7"/>
                </a:solidFill>
                <a:latin typeface="Arial" panose="020B0604020202020204"/>
              </a:rPr>
              <a:t>TIMING</a:t>
            </a:r>
            <a:endParaRPr sz="1050" b="1">
              <a:solidFill>
                <a:srgbClr val="0097A7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77495" y="1280160"/>
            <a:ext cx="1965960" cy="7498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7223" y="1353312"/>
            <a:ext cx="17465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E7D32"/>
                </a:solidFill>
                <a:latin typeface="Arial" panose="020B0604020202020204"/>
              </a:rPr>
              <a:t>+20.86 ns</a:t>
            </a:r>
            <a:endParaRPr sz="2200" b="1">
              <a:solidFill>
                <a:srgbClr val="2E7D32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7223" y="1682495"/>
            <a:ext cx="174650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8909C"/>
                </a:solidFill>
                <a:latin typeface="Arial" panose="020B0604020202020204"/>
              </a:rPr>
              <a:t>worst setup slack</a:t>
            </a:r>
            <a:endParaRPr sz="9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380615" y="1280160"/>
            <a:ext cx="1965960" cy="7498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90343" y="1353312"/>
            <a:ext cx="17465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26A00"/>
                </a:solidFill>
                <a:latin typeface="Arial" panose="020B0604020202020204"/>
              </a:rPr>
              <a:t>+0.066 ns</a:t>
            </a:r>
            <a:endParaRPr sz="2200" b="1">
              <a:solidFill>
                <a:srgbClr val="B26A00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490343" y="1682495"/>
            <a:ext cx="174650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8909C"/>
                </a:solidFill>
                <a:latin typeface="Arial" panose="020B0604020202020204"/>
              </a:rPr>
              <a:t>worst hold slack</a:t>
            </a:r>
            <a:endParaRPr sz="9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621530" y="1280160"/>
            <a:ext cx="1965960" cy="7498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31258" y="1353312"/>
            <a:ext cx="17465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E7D32"/>
                </a:solidFill>
                <a:latin typeface="Arial" panose="020B0604020202020204"/>
              </a:rPr>
              <a:t>0.0 ns</a:t>
            </a:r>
            <a:endParaRPr sz="2200" b="1">
              <a:solidFill>
                <a:srgbClr val="2E7D3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31258" y="1682495"/>
            <a:ext cx="174650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8909C"/>
                </a:solidFill>
                <a:latin typeface="Arial" panose="020B0604020202020204"/>
              </a:rPr>
              <a:t>total negative slack</a:t>
            </a:r>
            <a:endParaRPr sz="9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846570" y="1280160"/>
            <a:ext cx="1965960" cy="7498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56298" y="1353312"/>
            <a:ext cx="17465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097A7"/>
                </a:solidFill>
                <a:latin typeface="Arial" panose="020B0604020202020204"/>
              </a:rPr>
              <a:t>9 / 9</a:t>
            </a:r>
            <a:endParaRPr sz="2200" b="1">
              <a:solidFill>
                <a:srgbClr val="0097A7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956298" y="1682495"/>
            <a:ext cx="174650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8909C"/>
                </a:solidFill>
                <a:latin typeface="Arial" panose="020B0604020202020204"/>
              </a:rPr>
              <a:t>corners closed</a:t>
            </a:r>
            <a:endParaRPr sz="9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502920" y="2331720"/>
            <a:ext cx="404164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2459736"/>
            <a:ext cx="371246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2121"/>
                </a:solidFill>
                <a:latin typeface="Arial" panose="020B0604020202020204"/>
              </a:rPr>
              <a:t>Clock target: 10 MHz (100 ns)</a:t>
            </a:r>
            <a:endParaRPr sz="12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7512" y="2761488"/>
            <a:ext cx="37033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75"/>
              </a:spcAft>
            </a:pPr>
            <a:r>
              <a:rPr sz="950">
                <a:solidFill>
                  <a:srgbClr val="212121"/>
                </a:solidFill>
                <a:latin typeface="Arial" panose="020B0604020202020204"/>
              </a:rPr>
              <a:t>• Below the 50 MHz on the old slide and the padring's 25 MHz.</a:t>
            </a:r>
            <a:endParaRPr sz="9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75"/>
              </a:spcAft>
            </a:pPr>
            <a:r>
              <a:rPr sz="950">
                <a:solidFill>
                  <a:srgbClr val="212121"/>
                </a:solidFill>
                <a:latin typeface="Arial" panose="020B0604020202020204"/>
              </a:rPr>
              <a:t>• 20.7 ns of setup slack leaves large headroom to raise it.</a:t>
            </a:r>
            <a:endParaRPr sz="9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75"/>
              </a:spcAft>
            </a:pPr>
            <a:r>
              <a:rPr sz="950">
                <a:solidFill>
                  <a:srgbClr val="212121"/>
                </a:solidFill>
                <a:latin typeface="Arial" panose="020B0604020202020204"/>
              </a:rPr>
              <a:t>• Frequency can go up once we repair the electrical violations (next slide); a target with the organizers is still open.</a:t>
            </a:r>
            <a:endParaRPr sz="950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636008" y="2331720"/>
            <a:ext cx="404164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2459736"/>
            <a:ext cx="371246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2121"/>
                </a:solidFill>
                <a:latin typeface="Arial" panose="020B0604020202020204"/>
              </a:rPr>
              <a:t>The one thin margin</a:t>
            </a:r>
            <a:endParaRPr sz="12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800600" y="2761488"/>
            <a:ext cx="37033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75"/>
              </a:spcAft>
            </a:pPr>
            <a:r>
              <a:rPr sz="950">
                <a:solidFill>
                  <a:srgbClr val="212121"/>
                </a:solidFill>
                <a:latin typeface="Arial" panose="020B0604020202020204"/>
              </a:rPr>
              <a:t>• Hold is positive everywhere but only +66 ps.</a:t>
            </a:r>
            <a:endParaRPr sz="9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75"/>
              </a:spcAft>
            </a:pPr>
            <a:r>
              <a:rPr sz="950">
                <a:solidFill>
                  <a:srgbClr val="212121"/>
                </a:solidFill>
                <a:latin typeface="Arial" panose="020B0604020202020204"/>
              </a:rPr>
              <a:t>• PL_RESIZER_HOLD_SLACK_MARGIN 0.05 traded hold margin for area.</a:t>
            </a:r>
            <a:endParaRPr sz="9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75"/>
              </a:spcAft>
            </a:pPr>
            <a:r>
              <a:rPr sz="950">
                <a:solidFill>
                  <a:srgbClr val="212121"/>
                </a:solidFill>
                <a:latin typeface="Arial" panose="020B0604020202020204"/>
              </a:rPr>
              <a:t>• Re-check before raising the clock; it is listed as an open item.</a:t>
            </a:r>
            <a:endParaRPr sz="950">
              <a:solidFill>
                <a:srgbClr val="212121"/>
              </a:solidFill>
              <a:latin typeface="Arial" panose="020B0604020202020204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502920" y="4910328"/>
            <a:ext cx="8138160" cy="0"/>
          </a:xfrm>
          <a:prstGeom prst="line">
            <a:avLst/>
          </a:prstGeom>
          <a:ln w="15240">
            <a:solidFill>
              <a:srgbClr val="009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30352" y="4928616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8909C"/>
                </a:solidFill>
                <a:latin typeface="Arial" panose="020B0604020202020204"/>
              </a:rPr>
              <a:t>D15 · MOSAIC-SoC · Chipathon 2026 Layout Review · Block A</a:t>
            </a:r>
            <a:endParaRPr sz="8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8046720" y="491947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97A7"/>
                </a:solidFill>
                <a:latin typeface="Arial" panose="020B0604020202020204"/>
              </a:rPr>
              <a:t>10</a:t>
            </a:r>
            <a:endParaRPr sz="900" b="1">
              <a:solidFill>
                <a:srgbClr val="0097A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001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12121"/>
                </a:solidFill>
                <a:latin typeface="Arial" panose="020B0604020202020204"/>
              </a:rPr>
              <a:t>10. Power</a:t>
            </a:r>
            <a:endParaRPr sz="25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49808"/>
            <a:ext cx="795527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8909C"/>
                </a:solidFill>
                <a:latin typeface="Arial" panose="020B0604020202020204"/>
              </a:rPr>
              <a:t>Vectorless STA estimate at 10 MHz, 5 V. The clock tree and flip-flops dominate; leakage is negligible</a:t>
            </a:r>
            <a:endParaRPr sz="11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89520" y="320040"/>
            <a:ext cx="960120" cy="2926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0" y="320040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97A7"/>
                </a:solidFill>
                <a:latin typeface="Arial" panose="020B0604020202020204"/>
              </a:rPr>
              <a:t>POWER</a:t>
            </a:r>
            <a:endParaRPr sz="1050" b="1">
              <a:solidFill>
                <a:srgbClr val="0097A7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276860" y="1234440"/>
            <a:ext cx="2651760" cy="7498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6588" y="1307592"/>
            <a:ext cx="24323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4285F4"/>
                </a:solidFill>
                <a:latin typeface="Arial" panose="020B0604020202020204"/>
              </a:rPr>
              <a:t>58.4 mW</a:t>
            </a:r>
            <a:endParaRPr sz="2000" b="1">
              <a:solidFill>
                <a:srgbClr val="4285F4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6588" y="1636776"/>
            <a:ext cx="243230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8909C"/>
                </a:solidFill>
                <a:latin typeface="Arial" panose="020B0604020202020204"/>
              </a:rPr>
              <a:t>total, nominal corner</a:t>
            </a:r>
            <a:endParaRPr sz="9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254375" y="1234440"/>
            <a:ext cx="2651760" cy="7498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4103" y="1307592"/>
            <a:ext cx="24323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26A00"/>
                </a:solidFill>
                <a:latin typeface="Arial" panose="020B0604020202020204"/>
              </a:rPr>
              <a:t>73.4 mW</a:t>
            </a:r>
            <a:endParaRPr sz="2000" b="1">
              <a:solidFill>
                <a:srgbClr val="B26A00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64103" y="1636776"/>
            <a:ext cx="243230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8909C"/>
                </a:solidFill>
                <a:latin typeface="Arial" panose="020B0604020202020204"/>
              </a:rPr>
              <a:t>worst of nine corners</a:t>
            </a:r>
            <a:endParaRPr sz="9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15380" y="1234440"/>
            <a:ext cx="2651760" cy="7498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5108" y="1307592"/>
            <a:ext cx="2432304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E7D32"/>
                </a:solidFill>
                <a:latin typeface="Arial" panose="020B0604020202020204"/>
              </a:rPr>
              <a:t>7.9 µW</a:t>
            </a:r>
            <a:endParaRPr sz="2000" b="1">
              <a:solidFill>
                <a:srgbClr val="2E7D32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25108" y="1636776"/>
            <a:ext cx="2432304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78909C"/>
                </a:solidFill>
                <a:latin typeface="Arial" panose="020B0604020202020204"/>
              </a:rPr>
              <a:t>leakage (negligible)</a:t>
            </a:r>
            <a:endParaRPr sz="9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02920" y="2286000"/>
            <a:ext cx="404164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" y="2414016"/>
            <a:ext cx="371246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2121"/>
                </a:solidFill>
                <a:latin typeface="Arial" panose="020B0604020202020204"/>
              </a:rPr>
              <a:t>Where the power goes</a:t>
            </a:r>
            <a:endParaRPr sz="12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67512" y="2761488"/>
            <a:ext cx="1877583" cy="219456"/>
          </a:xfrm>
          <a:prstGeom prst="roundRect">
            <a:avLst/>
          </a:prstGeom>
          <a:solidFill>
            <a:srgbClr val="FFAB40"/>
          </a:solidFill>
          <a:ln w="12700">
            <a:solidFill>
              <a:srgbClr val="FFAB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545095" y="2761488"/>
            <a:ext cx="1810923" cy="219456"/>
          </a:xfrm>
          <a:prstGeom prst="roundRect">
            <a:avLst/>
          </a:prstGeom>
          <a:solidFill>
            <a:srgbClr val="4285F4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" y="3017520"/>
            <a:ext cx="3703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AB40"/>
                </a:solidFill>
                <a:latin typeface="Arial" panose="020B0604020202020204"/>
              </a:rPr>
              <a:t>Flip-flops 51%</a:t>
            </a:r>
            <a:endParaRPr sz="850" b="1">
              <a:solidFill>
                <a:srgbClr val="FFAB40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67512" y="3017520"/>
            <a:ext cx="3703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4285F4"/>
                </a:solidFill>
                <a:latin typeface="Arial" panose="020B0604020202020204"/>
              </a:rPr>
              <a:t>Clock tree 49%</a:t>
            </a:r>
            <a:endParaRPr sz="850" b="1">
              <a:solidFill>
                <a:srgbClr val="4285F4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67512" y="3310128"/>
            <a:ext cx="370332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30"/>
              </a:spcAft>
            </a:pPr>
            <a:r>
              <a:rPr sz="900">
                <a:solidFill>
                  <a:srgbClr val="212121"/>
                </a:solidFill>
                <a:latin typeface="Arial" panose="020B0604020202020204"/>
              </a:rPr>
              <a:t>• Flip-flops 29.6 mW · clock tree 28.6 mW · combinational 0.25 mW (&lt;1%).</a:t>
            </a:r>
            <a:endParaRPr sz="90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30"/>
              </a:spcAft>
            </a:pPr>
            <a:r>
              <a:rPr sz="900">
                <a:solidFill>
                  <a:srgbClr val="212121"/>
                </a:solidFill>
                <a:latin typeface="Arial" panose="020B0604020202020204"/>
              </a:rPr>
              <a:t>• The flop-heavy scratchpad and the clock net set the power, as they set the area.</a:t>
            </a:r>
            <a:endParaRPr sz="900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636008" y="2286000"/>
            <a:ext cx="4041648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2414016"/>
            <a:ext cx="371246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2121"/>
                </a:solidFill>
                <a:latin typeface="Arial" panose="020B0604020202020204"/>
              </a:rPr>
              <a:t>How it was measured</a:t>
            </a:r>
            <a:endParaRPr sz="12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00600" y="2724912"/>
            <a:ext cx="370332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30"/>
              </a:spcAft>
            </a:pPr>
            <a:r>
              <a:rPr sz="850">
                <a:solidFill>
                  <a:srgbClr val="212121"/>
                </a:solidFill>
                <a:latin typeface="Arial" panose="020B0604020202020204"/>
              </a:rPr>
              <a:t>• OpenSTA report_power at 10 MHz with default activity, no workload VCD.</a:t>
            </a:r>
            <a:endParaRPr sz="8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30"/>
              </a:spcAft>
            </a:pPr>
            <a:r>
              <a:rPr sz="850">
                <a:solidFill>
                  <a:srgbClr val="212121"/>
                </a:solidFill>
                <a:latin typeface="Arial" panose="020B0604020202020204"/>
              </a:rPr>
              <a:t>• Internal 78% · switching 22% · leakage ~0% (a strength of 180 nm).</a:t>
            </a:r>
            <a:endParaRPr sz="8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30"/>
              </a:spcAft>
            </a:pPr>
            <a:r>
              <a:rPr sz="850">
                <a:solidFill>
                  <a:srgbClr val="212121"/>
                </a:solidFill>
                <a:latin typeface="Arial" panose="020B0604020202020204"/>
              </a:rPr>
              <a:t>• Worst corner is fast / cold / 5.5 V (73.4 mW); best is slow / hot / 4.5 V (47.1 mW).</a:t>
            </a:r>
            <a:endParaRPr sz="8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30"/>
              </a:spcAft>
            </a:pPr>
            <a:r>
              <a:rPr sz="850">
                <a:solidFill>
                  <a:srgbClr val="212121"/>
                </a:solidFill>
                <a:latin typeface="Arial" panose="020B0604020202020204"/>
              </a:rPr>
              <a:t>• Workload-annotated power needs activity capture, which is on the roadmap.</a:t>
            </a:r>
            <a:endParaRPr sz="850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4407408"/>
            <a:ext cx="81381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78909C"/>
                </a:solidFill>
                <a:latin typeface="Arial" panose="020B0604020202020204"/>
              </a:rPr>
              <a:t>The PDN carries it cleanly: 0 power-grid violations, 120 µV worst IR drop on 5 V.</a:t>
            </a:r>
            <a:endParaRPr sz="900" b="0">
              <a:solidFill>
                <a:srgbClr val="78909C"/>
              </a:solidFill>
              <a:latin typeface="Arial" panose="020B0604020202020204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02920" y="4910328"/>
            <a:ext cx="8138160" cy="0"/>
          </a:xfrm>
          <a:prstGeom prst="line">
            <a:avLst/>
          </a:prstGeom>
          <a:ln w="15240">
            <a:solidFill>
              <a:srgbClr val="009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30352" y="4928616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8909C"/>
                </a:solidFill>
                <a:latin typeface="Arial" panose="020B0604020202020204"/>
              </a:rPr>
              <a:t>D15 · MOSAIC-SoC · Chipathon 2026 Layout Review · Block A</a:t>
            </a:r>
            <a:endParaRPr sz="8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046720" y="491947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97A7"/>
                </a:solidFill>
                <a:latin typeface="Arial" panose="020B0604020202020204"/>
              </a:rPr>
              <a:t>11</a:t>
            </a:r>
            <a:endParaRPr sz="900" b="1">
              <a:solidFill>
                <a:srgbClr val="0097A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001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12121"/>
                </a:solidFill>
                <a:latin typeface="Arial" panose="020B0604020202020204"/>
              </a:rPr>
              <a:t>11. Waivers: The Two We Accept</a:t>
            </a:r>
            <a:endParaRPr sz="25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49808"/>
            <a:ext cx="795527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8909C"/>
                </a:solidFill>
                <a:latin typeface="Arial" panose="020B0604020202020204"/>
              </a:rPr>
              <a:t>The review asked for no inherited or blanket waivers; DRC, LVS, XOR, antenna and the power grid carry none</a:t>
            </a:r>
            <a:endParaRPr sz="11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89520" y="320040"/>
            <a:ext cx="960120" cy="2926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0" y="320040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97A7"/>
                </a:solidFill>
                <a:latin typeface="Arial" panose="020B0604020202020204"/>
              </a:rPr>
              <a:t>WAIVERS</a:t>
            </a:r>
            <a:endParaRPr sz="1050" b="1">
              <a:solidFill>
                <a:srgbClr val="0097A7"/>
              </a:solidFill>
              <a:latin typeface="Arial" panose="020B0604020202020204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8174736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6040"/>
                <a:gridCol w="1463040"/>
                <a:gridCol w="4105656"/>
              </a:tblGrid>
              <a:tr h="37882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Setting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4450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Status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4450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Why it is acceptable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44505A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ERROR_ON_SYNTH_CHECKS</a:t>
                      </a:r>
                      <a:endParaRPr sz="9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ON (was off)</a:t>
                      </a:r>
                      <a:endParaRPr sz="9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Turning it back on exposed bugs 28–29. No longer waived.</a:t>
                      </a:r>
                      <a:endParaRPr sz="9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ERROR_ON_MAGIC_DRC</a:t>
                      </a:r>
                      <a:endParaRPr sz="9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ON</a:t>
                      </a:r>
                      <a:endParaRPr sz="9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A real violation fails the flow.</a:t>
                      </a:r>
                      <a:endParaRPr sz="9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ERROR_ON_UNMAPPED_CELLS</a:t>
                      </a:r>
                      <a:endParaRPr sz="9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ON</a:t>
                      </a:r>
                      <a:endParaRPr sz="9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An unmapped cell has no physical master.</a:t>
                      </a:r>
                      <a:endParaRPr sz="9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GRT_ALLOW_CONGESTION</a:t>
                      </a:r>
                      <a:endParaRPr sz="9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active</a:t>
                      </a:r>
                      <a:endParaRPr sz="9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Routing then converged to 0 DRC; nothing waived in the result.</a:t>
                      </a:r>
                      <a:endParaRPr sz="9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  <a:tr h="37882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max-slew = 591</a:t>
                      </a:r>
                      <a:endParaRPr sz="9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accepted, bounded</a:t>
                      </a:r>
                      <a:endParaRPr sz="9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At ss_125C_4v50 only; TT and FF corners clean. The gap to a tapeout-ready macro.</a:t>
                      </a:r>
                      <a:endParaRPr sz="9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788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max-fanout = 1</a:t>
                      </a:r>
                      <a:endParaRPr sz="9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accepted, bounded</a:t>
                      </a:r>
                      <a:endParaRPr sz="9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Down from 411; one net across all corners; scoped to this design.</a:t>
                      </a:r>
                      <a:endParaRPr sz="90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977639"/>
            <a:ext cx="8174736" cy="65836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114800"/>
            <a:ext cx="7863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97A7"/>
                </a:solidFill>
                <a:latin typeface="Arial" panose="020B0604020202020204"/>
              </a:rPr>
              <a:t>Scoping is enforced.  </a:t>
            </a:r>
            <a:r>
              <a:rPr sz="1050" b="0">
                <a:solidFill>
                  <a:srgbClr val="212121"/>
                </a:solidFill>
                <a:latin typeface="Arial" panose="020B0604020202020204"/>
              </a:rPr>
              <a:t>Block A's 591-slew / 1-fanout waivers did not carry to Block B: they were "recorded for a different design," so each design reports on its own numbers. Electrical waivers do not travel.</a:t>
            </a:r>
            <a:endParaRPr sz="1050" b="0">
              <a:solidFill>
                <a:srgbClr val="212121"/>
              </a:solidFill>
              <a:latin typeface="Arial" panose="020B0604020202020204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502920" y="4910328"/>
            <a:ext cx="8138160" cy="0"/>
          </a:xfrm>
          <a:prstGeom prst="line">
            <a:avLst/>
          </a:prstGeom>
          <a:ln w="15240">
            <a:solidFill>
              <a:srgbClr val="009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30352" y="4928616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8909C"/>
                </a:solidFill>
                <a:latin typeface="Arial" panose="020B0604020202020204"/>
              </a:rPr>
              <a:t>D15 · MOSAIC-SoC · Chipathon 2026 Layout Review · Block A</a:t>
            </a:r>
            <a:endParaRPr sz="8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46720" y="491947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97A7"/>
                </a:solidFill>
                <a:latin typeface="Arial" panose="020B0604020202020204"/>
              </a:rPr>
              <a:t>12</a:t>
            </a:r>
            <a:endParaRPr sz="900" b="1">
              <a:solidFill>
                <a:srgbClr val="0097A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001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12121"/>
                </a:solidFill>
                <a:latin typeface="Arial" panose="020B0604020202020204"/>
              </a:rPr>
              <a:t>12. What Must Close Before Tapeout</a:t>
            </a:r>
            <a:endParaRPr sz="25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49808"/>
            <a:ext cx="795527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8909C"/>
                </a:solidFill>
                <a:latin typeface="Arial" panose="020B0604020202020204"/>
              </a:rPr>
              <a:t>The re-review cleared the conditions and gave a Go; these are the reviewer's items to close before the tapeout itself</a:t>
            </a:r>
            <a:endParaRPr sz="11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89520" y="320040"/>
            <a:ext cx="960120" cy="2926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0" y="320040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97A7"/>
                </a:solidFill>
                <a:latin typeface="Arial" panose="020B0604020202020204"/>
              </a:rPr>
              <a:t>OPEN</a:t>
            </a:r>
            <a:endParaRPr sz="1050" b="1">
              <a:solidFill>
                <a:srgbClr val="0097A7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3977639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9224" y="1316736"/>
            <a:ext cx="2651760" cy="292608"/>
          </a:xfrm>
          <a:prstGeom prst="roundRect">
            <a:avLst/>
          </a:prstGeom>
          <a:solidFill>
            <a:srgbClr val="C62828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316736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 panose="020B0604020202020204"/>
              </a:rPr>
              <a:t>MUST CLOSE</a:t>
            </a:r>
            <a:endParaRPr sz="105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7512" y="1810512"/>
            <a:ext cx="36576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150"/>
              </a:spcAft>
            </a:pPr>
            <a:r>
              <a:rPr sz="950">
                <a:solidFill>
                  <a:srgbClr val="212121"/>
                </a:solidFill>
                <a:latin typeface="Arial" panose="020B0604020202020204"/>
              </a:rPr>
              <a:t>• Lock the clock target with the track leads and integration team now, then re-harden at that period. Every STA and slew number depends on it. 25 MHz looks reachable: the worst setup path is a half-cycle output to spi_flash_sd_io, ~3.7 ns of logic.</a:t>
            </a:r>
            <a:endParaRPr sz="9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150"/>
              </a:spcAft>
            </a:pPr>
            <a:r>
              <a:rPr sz="950">
                <a:solidFill>
                  <a:srgbClr val="212121"/>
                </a:solidFill>
                <a:latin typeface="Arial" panose="020B0604020202020204"/>
              </a:rPr>
              <a:t>• Close 591 max-slew + 1 max-fanout. They sit only at ss_125C_4v50; TT and FF corners are clean. Per-net: right-size the violating drivers, try higher-metal / NDR routing; watch fit at 84.4% util.</a:t>
            </a:r>
            <a:endParaRPr sz="950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663440" y="1188720"/>
            <a:ext cx="3977639" cy="342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09744" y="1316736"/>
            <a:ext cx="2651760" cy="292608"/>
          </a:xfrm>
          <a:prstGeom prst="roundRect">
            <a:avLst/>
          </a:prstGeom>
          <a:solidFill>
            <a:srgbClr val="B26A00"/>
          </a:solidFill>
          <a:ln w="12700">
            <a:solidFill>
              <a:srgbClr val="B2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9744" y="1316736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 panose="020B0604020202020204"/>
              </a:rPr>
              <a:t>RAISE WITH THE ORGANIZERS</a:t>
            </a:r>
            <a:endParaRPr sz="105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28031" y="1810512"/>
            <a:ext cx="365760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150"/>
              </a:spcAft>
            </a:pPr>
            <a:r>
              <a:rPr sz="950">
                <a:solidFill>
                  <a:srgbClr val="212121"/>
                </a:solidFill>
                <a:latin typeface="Arial" panose="020B0604020202020204"/>
              </a:rPr>
              <a:t>• Timing-annotated GLS: the GF180 cell models use ifnone on edge-sensitive specify paths, which IEEE 1364-2005 §14.2.6 forbids. Confirm whether timing-GLS is a required signoff item or multi-corner STA suffices, and report the models upstream.</a:t>
            </a:r>
            <a:endParaRPr sz="9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150"/>
              </a:spcAft>
            </a:pPr>
            <a:r>
              <a:rPr sz="950">
                <a:solidFill>
                  <a:srgbClr val="212121"/>
                </a:solidFill>
                <a:latin typeface="Arial" panose="020B0604020202020204"/>
              </a:rPr>
              <a:t>• Then tag the re-hardened commit. PHYSICAL_BUNDLE attestation is the project-internal companion to that tag.</a:t>
            </a:r>
            <a:endParaRPr sz="950">
              <a:solidFill>
                <a:srgbClr val="212121"/>
              </a:solidFill>
              <a:latin typeface="Arial" panose="020B0604020202020204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502920" y="4910328"/>
            <a:ext cx="8138160" cy="0"/>
          </a:xfrm>
          <a:prstGeom prst="line">
            <a:avLst/>
          </a:prstGeom>
          <a:ln w="15240">
            <a:solidFill>
              <a:srgbClr val="009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0352" y="4928616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8909C"/>
                </a:solidFill>
                <a:latin typeface="Arial" panose="020B0604020202020204"/>
              </a:rPr>
              <a:t>D15 · MOSAIC-SoC · Chipathon 2026 Layout Review · Block A</a:t>
            </a:r>
            <a:endParaRPr sz="8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46720" y="491947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97A7"/>
                </a:solidFill>
                <a:latin typeface="Arial" panose="020B0604020202020204"/>
              </a:rPr>
              <a:t>13</a:t>
            </a:r>
            <a:endParaRPr sz="900" b="1">
              <a:solidFill>
                <a:srgbClr val="0097A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001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12121"/>
                </a:solidFill>
                <a:latin typeface="Arial" panose="020B0604020202020204"/>
              </a:rPr>
              <a:t>13. End-to-End: Prompt to GDS</a:t>
            </a:r>
            <a:endParaRPr sz="25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49808"/>
            <a:ext cx="795527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8909C"/>
                </a:solidFill>
                <a:latin typeface="Arial" panose="020B0604020202020204"/>
              </a:rPr>
              <a:t>Natural-language intent authors the config; deterministic Python generates and checks it. It reached this exact part</a:t>
            </a:r>
            <a:endParaRPr sz="11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89520" y="320040"/>
            <a:ext cx="960120" cy="2926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0" y="320040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97A7"/>
                </a:solidFill>
                <a:latin typeface="Arial" panose="020B0604020202020204"/>
              </a:rPr>
              <a:t>E2E</a:t>
            </a:r>
            <a:endParaRPr sz="1050" b="1">
              <a:solidFill>
                <a:srgbClr val="0097A7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234440"/>
            <a:ext cx="1417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335024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4285F4"/>
                </a:solidFill>
                <a:latin typeface="Arial" panose="020B0604020202020204"/>
              </a:rPr>
              <a:t>Prompt</a:t>
            </a:r>
            <a:endParaRPr sz="1200" b="1">
              <a:solidFill>
                <a:srgbClr val="4285F4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609344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8909C"/>
                </a:solidFill>
                <a:latin typeface="Arial" panose="020B0604020202020204"/>
              </a:rPr>
              <a:t>one sentence,</a:t>
            </a:r>
            <a:br>
              <a:rPr sz="800" b="0">
                <a:solidFill>
                  <a:srgbClr val="78909C"/>
                </a:solidFill>
                <a:latin typeface="Arial" panose="020B0604020202020204"/>
              </a:rPr>
            </a:br>
            <a:r>
              <a:rPr sz="800" b="0">
                <a:solidFill>
                  <a:srgbClr val="78909C"/>
                </a:solidFill>
                <a:latin typeface="Arial" panose="020B0604020202020204"/>
              </a:rPr>
              <a:t>15 design fields</a:t>
            </a:r>
            <a:endParaRPr sz="800" b="0">
              <a:solidFill>
                <a:srgbClr val="78909C"/>
              </a:solidFill>
              <a:latin typeface="Arial" panose="020B0604020202020204"/>
            </a:endParaRPr>
          </a:p>
        </p:txBody>
      </p:sp>
      <p:cxnSp>
        <p:nvCxnSpPr>
          <p:cNvPr id="9" name="Connector 8"/>
          <p:cNvCxnSpPr/>
          <p:nvPr/>
        </p:nvCxnSpPr>
        <p:spPr>
          <a:xfrm>
            <a:off x="1920240" y="1664208"/>
            <a:ext cx="155448" cy="0"/>
          </a:xfrm>
          <a:prstGeom prst="line">
            <a:avLst/>
          </a:prstGeom>
          <a:ln w="25400">
            <a:solidFill>
              <a:srgbClr val="009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075688" y="1234440"/>
            <a:ext cx="1417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21408" y="1335024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97A7"/>
                </a:solidFill>
                <a:latin typeface="Arial" panose="020B0604020202020204"/>
              </a:rPr>
              <a:t>mosaic.yaml</a:t>
            </a:r>
            <a:endParaRPr sz="1200" b="1">
              <a:solidFill>
                <a:srgbClr val="0097A7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121408" y="1609344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8909C"/>
                </a:solidFill>
                <a:latin typeface="Arial" panose="020B0604020202020204"/>
              </a:rPr>
              <a:t>grammar parse,</a:t>
            </a:r>
            <a:br>
              <a:rPr sz="800" b="0">
                <a:solidFill>
                  <a:srgbClr val="78909C"/>
                </a:solidFill>
                <a:latin typeface="Arial" panose="020B0604020202020204"/>
              </a:rPr>
            </a:br>
            <a:r>
              <a:rPr sz="800" b="0">
                <a:solidFill>
                  <a:srgbClr val="78909C"/>
                </a:solidFill>
                <a:latin typeface="Arial" panose="020B0604020202020204"/>
              </a:rPr>
              <a:t>provenance shown</a:t>
            </a:r>
            <a:endParaRPr sz="800" b="0">
              <a:solidFill>
                <a:srgbClr val="78909C"/>
              </a:solidFill>
              <a:latin typeface="Arial" panose="020B0604020202020204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3493008" y="1664208"/>
            <a:ext cx="155448" cy="0"/>
          </a:xfrm>
          <a:prstGeom prst="line">
            <a:avLst/>
          </a:prstGeom>
          <a:ln w="25400">
            <a:solidFill>
              <a:srgbClr val="009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648456" y="1234440"/>
            <a:ext cx="1417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4176" y="1335024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097A7"/>
                </a:solidFill>
                <a:latin typeface="Arial" panose="020B0604020202020204"/>
              </a:rPr>
              <a:t>RTL</a:t>
            </a:r>
            <a:endParaRPr sz="1200" b="1">
              <a:solidFill>
                <a:srgbClr val="0097A7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94176" y="1609344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8909C"/>
                </a:solidFill>
                <a:latin typeface="Arial" panose="020B0604020202020204"/>
              </a:rPr>
              <a:t>content-addressed</a:t>
            </a:r>
            <a:br>
              <a:rPr sz="800" b="0">
                <a:solidFill>
                  <a:srgbClr val="78909C"/>
                </a:solidFill>
                <a:latin typeface="Arial" panose="020B0604020202020204"/>
              </a:rPr>
            </a:br>
            <a:r>
              <a:rPr sz="800" b="0">
                <a:solidFill>
                  <a:srgbClr val="78909C"/>
                </a:solidFill>
                <a:latin typeface="Arial" panose="020B0604020202020204"/>
              </a:rPr>
              <a:t>generate</a:t>
            </a:r>
            <a:endParaRPr sz="800" b="0">
              <a:solidFill>
                <a:srgbClr val="78909C"/>
              </a:solidFill>
              <a:latin typeface="Arial" panose="020B0604020202020204"/>
            </a:endParaRPr>
          </a:p>
        </p:txBody>
      </p:sp>
      <p:cxnSp>
        <p:nvCxnSpPr>
          <p:cNvPr id="17" name="Connector 16"/>
          <p:cNvCxnSpPr/>
          <p:nvPr/>
        </p:nvCxnSpPr>
        <p:spPr>
          <a:xfrm>
            <a:off x="5065776" y="1664208"/>
            <a:ext cx="155448" cy="0"/>
          </a:xfrm>
          <a:prstGeom prst="line">
            <a:avLst/>
          </a:prstGeom>
          <a:ln w="25400">
            <a:solidFill>
              <a:srgbClr val="009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221224" y="1234440"/>
            <a:ext cx="1417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66944" y="1335024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7D32"/>
                </a:solidFill>
                <a:latin typeface="Arial" panose="020B0604020202020204"/>
              </a:rPr>
              <a:t>Simulation</a:t>
            </a:r>
            <a:endParaRPr sz="1200" b="1">
              <a:solidFill>
                <a:srgbClr val="2E7D32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266944" y="1609344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8909C"/>
                </a:solidFill>
                <a:latin typeface="Arial" panose="020B0604020202020204"/>
              </a:rPr>
              <a:t>TDU wake demo,</a:t>
            </a:r>
            <a:br>
              <a:rPr sz="800" b="0">
                <a:solidFill>
                  <a:srgbClr val="78909C"/>
                </a:solidFill>
                <a:latin typeface="Arial" panose="020B0604020202020204"/>
              </a:rPr>
            </a:br>
            <a:r>
              <a:rPr sz="800" b="0">
                <a:solidFill>
                  <a:srgbClr val="78909C"/>
                </a:solidFill>
                <a:latin typeface="Arial" panose="020B0604020202020204"/>
              </a:rPr>
              <a:t>EXIT SUCCESS</a:t>
            </a:r>
            <a:endParaRPr sz="800" b="0">
              <a:solidFill>
                <a:srgbClr val="78909C"/>
              </a:solidFill>
              <a:latin typeface="Arial" panose="020B0604020202020204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6638544" y="1664208"/>
            <a:ext cx="155448" cy="0"/>
          </a:xfrm>
          <a:prstGeom prst="line">
            <a:avLst/>
          </a:prstGeom>
          <a:ln w="25400">
            <a:solidFill>
              <a:srgbClr val="009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6793992" y="1234440"/>
            <a:ext cx="141732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9712" y="1335024"/>
            <a:ext cx="132588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E7D32"/>
                </a:solidFill>
                <a:latin typeface="Arial" panose="020B0604020202020204"/>
              </a:rPr>
              <a:t>GDS</a:t>
            </a:r>
            <a:endParaRPr sz="1200" b="1">
              <a:solidFill>
                <a:srgbClr val="2E7D32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839712" y="1609344"/>
            <a:ext cx="13258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8909C"/>
                </a:solidFill>
                <a:latin typeface="Arial" panose="020B0604020202020204"/>
              </a:rPr>
              <a:t>LibreLane signoff,</a:t>
            </a:r>
            <a:br>
              <a:rPr sz="800" b="0">
                <a:solidFill>
                  <a:srgbClr val="78909C"/>
                </a:solidFill>
                <a:latin typeface="Arial" panose="020B0604020202020204"/>
              </a:rPr>
            </a:br>
            <a:r>
              <a:rPr sz="800" b="0">
                <a:solidFill>
                  <a:srgbClr val="78909C"/>
                </a:solidFill>
                <a:latin typeface="Arial" panose="020B0604020202020204"/>
              </a:rPr>
              <a:t>DRC/LVS clean</a:t>
            </a:r>
            <a:endParaRPr sz="80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02920" y="2331720"/>
            <a:ext cx="4041648" cy="1874519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7512" y="2459736"/>
            <a:ext cx="371246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2121"/>
                </a:solidFill>
                <a:latin typeface="Arial" panose="020B0604020202020204"/>
              </a:rPr>
              <a:t>Done once, end to end: Block A</a:t>
            </a:r>
            <a:endParaRPr sz="12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7512" y="2770632"/>
            <a:ext cx="37033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30"/>
              </a:spcAft>
            </a:pPr>
            <a:r>
              <a:rPr sz="950">
                <a:solidFill>
                  <a:srgbClr val="212121"/>
                </a:solidFill>
                <a:latin typeface="Arial" panose="020B0604020202020204"/>
              </a:rPr>
              <a:t>• demo/03_blocka_from_prompt.sh: a live model reaches the frozen config through typed CLI arguments, 15 of 15 fields.</a:t>
            </a:r>
            <a:endParaRPr sz="9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30"/>
              </a:spcAft>
            </a:pPr>
            <a:r>
              <a:rPr sz="950">
                <a:solidFill>
                  <a:srgbClr val="212121"/>
                </a:solidFill>
                <a:latin typeface="Arial" panose="020B0604020202020204"/>
              </a:rPr>
              <a:t>• Steps 2–5 call no model (a regex grammar), so they run in CI and gate false 'tapeout' claims.</a:t>
            </a:r>
            <a:endParaRPr sz="9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30"/>
              </a:spcAft>
            </a:pPr>
            <a:r>
              <a:rPr sz="950">
                <a:solidFill>
                  <a:srgbClr val="212121"/>
                </a:solidFill>
                <a:latin typeface="Arial" panose="020B0604020202020204"/>
              </a:rPr>
              <a:t>• Step 6 is the model's work, gated on a harness being installed, not on an API key.</a:t>
            </a:r>
            <a:endParaRPr sz="950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4636008" y="2331720"/>
            <a:ext cx="4041648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0600" y="2459736"/>
            <a:ext cx="371246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2121"/>
                </a:solidFill>
                <a:latin typeface="Arial" panose="020B0604020202020204"/>
              </a:rPr>
              <a:t>The asymmetry we are honest about</a:t>
            </a:r>
            <a:endParaRPr sz="12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00600" y="2770632"/>
            <a:ext cx="37033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30"/>
              </a:spcAft>
            </a:pPr>
            <a:r>
              <a:rPr sz="950">
                <a:solidFill>
                  <a:srgbClr val="212121"/>
                </a:solidFill>
                <a:latin typeface="Arial" panose="020B0604020202020204"/>
              </a:rPr>
              <a:t>• prompt → RTL → simulation is a GENERATOR: a pairwise covering array, 765 tests, over the whole design space.</a:t>
            </a:r>
            <a:endParaRPr sz="9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30"/>
              </a:spcAft>
            </a:pPr>
            <a:r>
              <a:rPr sz="950">
                <a:solidFill>
                  <a:srgbClr val="212121"/>
                </a:solidFill>
                <a:latin typeface="Arial" panose="020B0604020202020204"/>
              </a:rPr>
              <a:t>• RTL → GDS was, for Block A, a hand-tuned artifact for one design; six experimental configs record how many tries it took.</a:t>
            </a:r>
            <a:endParaRPr sz="9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30"/>
              </a:spcAft>
            </a:pPr>
            <a:r>
              <a:rPr sz="950">
                <a:solidFill>
                  <a:srgbClr val="212121"/>
                </a:solidFill>
                <a:latin typeface="Arial" panose="020B0604020202020204"/>
              </a:rPr>
              <a:t>• Closing that gap is the next slide.</a:t>
            </a:r>
            <a:endParaRPr sz="950">
              <a:solidFill>
                <a:srgbClr val="212121"/>
              </a:solidFill>
              <a:latin typeface="Arial" panose="020B0604020202020204"/>
            </a:endParaRPr>
          </a:p>
        </p:txBody>
      </p:sp>
      <p:cxnSp>
        <p:nvCxnSpPr>
          <p:cNvPr id="31" name="Connector 30"/>
          <p:cNvCxnSpPr/>
          <p:nvPr/>
        </p:nvCxnSpPr>
        <p:spPr>
          <a:xfrm>
            <a:off x="502920" y="4910328"/>
            <a:ext cx="8138160" cy="0"/>
          </a:xfrm>
          <a:prstGeom prst="line">
            <a:avLst/>
          </a:prstGeom>
          <a:ln w="15240">
            <a:solidFill>
              <a:srgbClr val="009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30352" y="4928616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8909C"/>
                </a:solidFill>
                <a:latin typeface="Arial" panose="020B0604020202020204"/>
              </a:rPr>
              <a:t>D15 · MOSAIC-SoC · Chipathon 2026 Layout Review · Block A</a:t>
            </a:r>
            <a:endParaRPr sz="8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046720" y="491947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97A7"/>
                </a:solidFill>
                <a:latin typeface="Arial" panose="020B0604020202020204"/>
              </a:rPr>
              <a:t>14</a:t>
            </a:r>
            <a:endParaRPr sz="900" b="1">
              <a:solidFill>
                <a:srgbClr val="0097A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001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12121"/>
                </a:solidFill>
                <a:latin typeface="Arial" panose="020B0604020202020204"/>
              </a:rPr>
              <a:t>14. Prompt to Signoff</a:t>
            </a:r>
            <a:endParaRPr sz="25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49808"/>
            <a:ext cx="795527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8909C"/>
                </a:solidFill>
                <a:latin typeface="Arial" panose="020B0604020202020204"/>
              </a:rPr>
              <a:t>One sentence to a signed-off GDS. The hardening config is derived from the SoC config, with no hand-written physical file</a:t>
            </a:r>
            <a:endParaRPr sz="11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89520" y="320040"/>
            <a:ext cx="960120" cy="2926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0" y="320040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97A7"/>
                </a:solidFill>
                <a:latin typeface="Arial" panose="020B0604020202020204"/>
              </a:rPr>
              <a:t>PROMPT</a:t>
            </a:r>
            <a:endParaRPr sz="1050" b="1">
              <a:solidFill>
                <a:srgbClr val="0097A7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5029200" cy="3200400"/>
          </a:xfrm>
          <a:prstGeom prst="roundRect">
            <a:avLst/>
          </a:prstGeom>
          <a:solidFill>
            <a:srgbClr val="102035"/>
          </a:solidFill>
          <a:ln w="12700">
            <a:solidFill>
              <a:srgbClr val="1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481328"/>
            <a:ext cx="4736592" cy="29809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9AA4B2"/>
                </a:solidFill>
                <a:latin typeface="Consolas" panose="020B0609020204030204"/>
              </a:rPr>
              <a:t># the prompt (demo/03_blocka_from_prompt.sh)</a:t>
            </a:r>
            <a:endParaRPr sz="850">
              <a:solidFill>
                <a:srgbClr val="9AA4B2"/>
              </a:solidFill>
              <a:latin typeface="Consolas" panose="020B06090202040302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E0A85A"/>
                </a:solidFill>
                <a:latin typeface="Consolas" panose="020B0609020204030204"/>
              </a:rPr>
              <a:t>PROMPT="a tapeout SoC: one serv titan</a:t>
            </a:r>
            <a:endParaRPr sz="850">
              <a:solidFill>
                <a:srgbClr val="E0A85A"/>
              </a:solidFill>
              <a:latin typeface="Consolas" panose="020B06090202040302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E0A85A"/>
                </a:solidFill>
                <a:latin typeface="Consolas" panose="020B0609020204030204"/>
              </a:rPr>
              <a:t>  rv32ic +CSR, one serv worker rv32i</a:t>
            </a:r>
            <a:endParaRPr sz="850">
              <a:solidFill>
                <a:srgbClr val="E0A85A"/>
              </a:solidFill>
              <a:latin typeface="Consolas" panose="020B06090202040302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E0A85A"/>
                </a:solidFill>
                <a:latin typeface="Consolas" panose="020B0609020204030204"/>
              </a:rPr>
              <a:t>  boot 0x40010000, no sram, 128B</a:t>
            </a:r>
            <a:endParaRPr sz="850">
              <a:solidFill>
                <a:srgbClr val="E0A85A"/>
              </a:solidFill>
              <a:latin typeface="Consolas" panose="020B06090202040302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E0A85A"/>
                </a:solidFill>
                <a:latin typeface="Consolas" panose="020B0609020204030204"/>
              </a:rPr>
              <a:t>  scratchpad, 1KB rom, XIP flash, uart,</a:t>
            </a:r>
            <a:endParaRPr sz="850">
              <a:solidFill>
                <a:srgbClr val="E0A85A"/>
              </a:solidFill>
              <a:latin typeface="Consolas" panose="020B06090202040302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E0A85A"/>
                </a:solidFill>
                <a:latin typeface="Consolas" panose="020B0609020204030204"/>
              </a:rPr>
              <a:t>  TDU dynamic; no dma/debug/plic/gpio"</a:t>
            </a:r>
            <a:endParaRPr sz="850">
              <a:solidFill>
                <a:srgbClr val="E0A85A"/>
              </a:solidFill>
              <a:latin typeface="Consolas" panose="020B06090202040302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9AA4B2"/>
                </a:solidFill>
                <a:latin typeface="Consolas" panose="020B0609020204030204"/>
              </a:rPr>
              <a:t># 1 · sentence -&gt; config</a:t>
            </a:r>
            <a:endParaRPr sz="850">
              <a:solidFill>
                <a:srgbClr val="9AA4B2"/>
              </a:solidFill>
              <a:latin typeface="Consolas" panose="020B06090202040302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FFFFFF"/>
                </a:solidFill>
                <a:latin typeface="Consolas" panose="020B0609020204030204"/>
              </a:rPr>
              <a:t>./oh-my-soc soc-from-prompt run "$PROMPT"</a:t>
            </a:r>
            <a:endParaRPr sz="850">
              <a:solidFill>
                <a:srgbClr val="FFFFFF"/>
              </a:solidFill>
              <a:latin typeface="Consolas" panose="020B06090202040302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6ED08A"/>
                </a:solidFill>
                <a:latin typeface="Consolas" panose="020B0609020204030204"/>
              </a:rPr>
              <a:t>#   -&gt; configs/blocka.yaml  (15/15 fields)</a:t>
            </a:r>
            <a:endParaRPr sz="850">
              <a:solidFill>
                <a:srgbClr val="6ED08A"/>
              </a:solidFill>
              <a:latin typeface="Consolas" panose="020B06090202040302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9AA4B2"/>
                </a:solidFill>
                <a:latin typeface="Consolas" panose="020B0609020204030204"/>
              </a:rPr>
              <a:t># 2 · config -&gt; verified RTL</a:t>
            </a:r>
            <a:endParaRPr sz="850">
              <a:solidFill>
                <a:srgbClr val="9AA4B2"/>
              </a:solidFill>
              <a:latin typeface="Consolas" panose="020B06090202040302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FFFFFF"/>
                </a:solidFill>
                <a:latin typeface="Consolas" panose="020B0609020204030204"/>
              </a:rPr>
              <a:t>make mosaic-gen MOSAIC_CFG=configs/blocka.yaml</a:t>
            </a:r>
            <a:endParaRPr sz="850">
              <a:solidFill>
                <a:srgbClr val="FFFFFF"/>
              </a:solidFill>
              <a:latin typeface="Consolas" panose="020B06090202040302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FFFFFF"/>
                </a:solidFill>
                <a:latin typeface="Consolas" panose="020B0609020204030204"/>
              </a:rPr>
              <a:t>bash tb/mosaic_soc/run_generic.sh</a:t>
            </a:r>
            <a:endParaRPr sz="850">
              <a:solidFill>
                <a:srgbClr val="FFFFFF"/>
              </a:solidFill>
              <a:latin typeface="Consolas" panose="020B06090202040302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6ED08A"/>
                </a:solidFill>
                <a:latin typeface="Consolas" panose="020B0609020204030204"/>
              </a:rPr>
              <a:t>#   -&gt; EXIT SUCCESS</a:t>
            </a:r>
            <a:endParaRPr sz="850">
              <a:solidFill>
                <a:srgbClr val="6ED08A"/>
              </a:solidFill>
              <a:latin typeface="Consolas" panose="020B06090202040302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9AA4B2"/>
                </a:solidFill>
                <a:latin typeface="Consolas" panose="020B0609020204030204"/>
              </a:rPr>
              <a:t># 3 · config -&gt; signed-off GDS  (derived)</a:t>
            </a:r>
            <a:endParaRPr sz="850">
              <a:solidFill>
                <a:srgbClr val="9AA4B2"/>
              </a:solidFill>
              <a:latin typeface="Consolas" panose="020B06090202040302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FFFFFF"/>
                </a:solidFill>
                <a:latin typeface="Consolas" panose="020B0609020204030204"/>
              </a:rPr>
              <a:t>MOSAIC_HARDEN_FROM_SOC=configs/blocka.yaml \</a:t>
            </a:r>
            <a:endParaRPr sz="850">
              <a:solidFill>
                <a:srgbClr val="FFFFFF"/>
              </a:solidFill>
              <a:latin typeface="Consolas" panose="020B06090202040302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FFFFFF"/>
                </a:solidFill>
                <a:latin typeface="Consolas" panose="020B0609020204030204"/>
              </a:rPr>
              <a:t>  flow/librelane/experimental/run_signoff.sh</a:t>
            </a:r>
            <a:endParaRPr sz="850">
              <a:solidFill>
                <a:srgbClr val="FFFFFF"/>
              </a:solidFill>
              <a:latin typeface="Consolas" panose="020B06090202040302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6ED08A"/>
                </a:solidFill>
                <a:latin typeface="Consolas" panose="020B0609020204030204"/>
              </a:rPr>
              <a:t>#   -&gt; DRC / LVS / XOR / antenna = 0</a:t>
            </a:r>
            <a:endParaRPr sz="850">
              <a:solidFill>
                <a:srgbClr val="6ED08A"/>
              </a:solidFill>
              <a:latin typeface="Consolas" panose="020B0609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669280" y="1371600"/>
            <a:ext cx="3008376" cy="3200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33872" y="1499616"/>
            <a:ext cx="2679192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2121"/>
                </a:solidFill>
                <a:latin typeface="Arial" panose="020B0604020202020204"/>
              </a:rPr>
              <a:t>What this proves</a:t>
            </a:r>
            <a:endParaRPr sz="12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833872" y="1828800"/>
            <a:ext cx="269748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90"/>
              </a:spcAft>
            </a:pPr>
            <a:r>
              <a:rPr sz="850">
                <a:solidFill>
                  <a:srgbClr val="212121"/>
                </a:solidFill>
                <a:latin typeface="Arial" panose="020B0604020202020204"/>
              </a:rPr>
              <a:t>• Step 1 is a deterministic grammar. demo/03 also shows a live model reach the frozen config, 15 of 15 fields.</a:t>
            </a:r>
            <a:endParaRPr sz="8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90"/>
              </a:spcAft>
            </a:pPr>
            <a:r>
              <a:rPr sz="850">
                <a:solidFill>
                  <a:srgbClr val="212121"/>
                </a:solidFill>
                <a:latin typeface="Arial" panose="020B0604020202020204"/>
              </a:rPr>
              <a:t>• Step 3 derives the floorplan and PDN from the config. No hand-written physical file is in the chain.</a:t>
            </a:r>
            <a:endParaRPr sz="8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90"/>
              </a:spcAft>
            </a:pPr>
            <a:r>
              <a:rPr sz="850">
                <a:solidFill>
                  <a:srgbClr val="212121"/>
                </a:solidFill>
                <a:latin typeface="Arial" panose="020B0604020202020204"/>
              </a:rPr>
              <a:t>• Proven: Block B hardened from a generated config, clean; Block A's config regenerates key-for-key.</a:t>
            </a:r>
            <a:endParaRPr sz="850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833872" y="3831590"/>
            <a:ext cx="2679192" cy="54864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B2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0" y="3886454"/>
            <a:ext cx="246888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44505A"/>
                </a:solidFill>
                <a:latin typeface="Arial" panose="020B0604020202020204"/>
              </a:rPr>
              <a:t>Correctness (DRC, LVS, timing) is generated end to end. Electrical polish, the max-slew work, is still per-design.</a:t>
            </a:r>
            <a:endParaRPr sz="800" b="0">
              <a:solidFill>
                <a:srgbClr val="44505A"/>
              </a:solidFill>
              <a:latin typeface="Arial" panose="020B0604020202020204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502920" y="4910328"/>
            <a:ext cx="8138160" cy="0"/>
          </a:xfrm>
          <a:prstGeom prst="line">
            <a:avLst/>
          </a:prstGeom>
          <a:ln w="15240">
            <a:solidFill>
              <a:srgbClr val="009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0352" y="4928616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8909C"/>
                </a:solidFill>
                <a:latin typeface="Arial" panose="020B0604020202020204"/>
              </a:rPr>
              <a:t>D15 · MOSAIC-SoC · Chipathon 2026 Layout Review · Block A</a:t>
            </a:r>
            <a:endParaRPr sz="8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46720" y="491947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97A7"/>
                </a:solidFill>
                <a:latin typeface="Arial" panose="020B0604020202020204"/>
              </a:rPr>
              <a:t>15</a:t>
            </a:r>
            <a:endParaRPr sz="900" b="1">
              <a:solidFill>
                <a:srgbClr val="0097A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001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12121"/>
                </a:solidFill>
                <a:latin typeface="Arial" panose="020B0604020202020204"/>
              </a:rPr>
              <a:t>15. Derive, Don't Fit: Generating the Hardening</a:t>
            </a:r>
            <a:endParaRPr sz="25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49808"/>
            <a:ext cx="795527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8909C"/>
                </a:solidFill>
                <a:latin typeface="Arial" panose="020B0604020202020204"/>
              </a:rPr>
              <a:t>The hand-fitting is only the floorplan; PDN and timing setup are design-independent, so we predict the die, then generate it</a:t>
            </a:r>
            <a:endParaRPr sz="11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990840" y="320040"/>
            <a:ext cx="960120" cy="2926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90840" y="320040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97A7"/>
                </a:solidFill>
                <a:latin typeface="Arial" panose="020B0604020202020204"/>
              </a:rPr>
              <a:t>FRONTIER</a:t>
            </a:r>
            <a:endParaRPr sz="1050" b="1">
              <a:solidFill>
                <a:srgbClr val="0097A7"/>
              </a:solidFill>
              <a:latin typeface="Arial" panose="020B0604020202020204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88720"/>
          <a:ext cx="8174736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600200"/>
                <a:gridCol w="1600200"/>
                <a:gridCol w="3008376"/>
              </a:tblGrid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>
                    <a:solidFill>
                      <a:srgbClr val="4450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Block A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4450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Block B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4450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Note</a:t>
                      </a:r>
                      <a:endParaRPr sz="10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44505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Die side (µm)</a:t>
                      </a:r>
                      <a:endParaRPr sz="9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1117.5</a:t>
                      </a:r>
                      <a:endParaRPr sz="9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1261.6</a:t>
                      </a:r>
                      <a:endParaRPr sz="9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predicted 1223 → +3.2% error</a:t>
                      </a:r>
                      <a:endParaRPr sz="9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Die area (mm²)</a:t>
                      </a:r>
                      <a:endParaRPr sz="9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1.2488</a:t>
                      </a:r>
                      <a:endParaRPr sz="9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1.5917</a:t>
                      </a:r>
                      <a:endParaRPr sz="9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+27.5% for +1 worker</a:t>
                      </a:r>
                      <a:endParaRPr sz="9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Max-slew viol.</a:t>
                      </a:r>
                      <a:endParaRPr sz="9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591</a:t>
                      </a:r>
                      <a:endParaRPr sz="9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845</a:t>
                      </a:r>
                      <a:endParaRPr sz="9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grows faster than area (+43%)</a:t>
                      </a:r>
                      <a:endParaRPr sz="9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Hardening config</a:t>
                      </a:r>
                      <a:endParaRPr sz="9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hand-tuned</a:t>
                      </a:r>
                      <a:endParaRPr sz="9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GENERATED</a:t>
                      </a:r>
                      <a:endParaRPr sz="9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clean on every hard check</a:t>
                      </a:r>
                      <a:endParaRPr sz="9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02920" y="3291840"/>
            <a:ext cx="4041648" cy="132588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3419856"/>
            <a:ext cx="371246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2121"/>
                </a:solidFill>
                <a:latin typeface="Arial" panose="020B0604020202020204"/>
              </a:rPr>
              <a:t>What is now proven</a:t>
            </a:r>
            <a:endParaRPr sz="12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7512" y="3730752"/>
            <a:ext cx="37033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15"/>
              </a:spcAft>
            </a:pPr>
            <a:r>
              <a:rPr sz="850">
                <a:solidFill>
                  <a:srgbClr val="212121"/>
                </a:solidFill>
                <a:latin typeface="Arial" panose="020B0604020202020204"/>
              </a:rPr>
              <a:t>• Die size is DERIVABLE: the area model lands within 0.1–0.4% of measured.</a:t>
            </a:r>
            <a:endParaRPr sz="8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15"/>
              </a:spcAft>
            </a:pPr>
            <a:r>
              <a:rPr sz="850">
                <a:solidFill>
                  <a:srgbClr val="212121"/>
                </a:solidFill>
                <a:latin typeface="Arial" panose="020B0604020202020204"/>
              </a:rPr>
              <a:t>• Block B hardened from a GENERATED config (no hand-written physical file): DRC/LVS/XOR/antenna 0, setup +20.89 ns.</a:t>
            </a:r>
            <a:endParaRPr sz="8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15"/>
              </a:spcAft>
            </a:pPr>
            <a:r>
              <a:rPr sz="850">
                <a:solidFill>
                  <a:srgbClr val="212121"/>
                </a:solidFill>
                <a:latin typeface="Arial" panose="020B0604020202020204"/>
              </a:rPr>
              <a:t>• Block C: prediction registered BEFORE the run.</a:t>
            </a:r>
            <a:endParaRPr sz="850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4636008" y="3291840"/>
            <a:ext cx="4041648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3419856"/>
            <a:ext cx="371246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2121"/>
                </a:solidFill>
                <a:latin typeface="Arial" panose="020B0604020202020204"/>
              </a:rPr>
              <a:t>What it revealed</a:t>
            </a:r>
            <a:endParaRPr sz="12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800600" y="3730752"/>
            <a:ext cx="370332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15"/>
              </a:spcAft>
            </a:pPr>
            <a:r>
              <a:rPr sz="850">
                <a:solidFill>
                  <a:srgbClr val="212121"/>
                </a:solidFill>
                <a:latin typeface="Arial" panose="020B0604020202020204"/>
              </a:rPr>
              <a:t>• Electrical violations grow FASTER than area, so they are not a fix-once cost.</a:t>
            </a:r>
            <a:endParaRPr sz="8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15"/>
              </a:spcAft>
            </a:pPr>
            <a:r>
              <a:rPr sz="850">
                <a:solidFill>
                  <a:srgbClr val="212121"/>
                </a:solidFill>
                <a:latin typeface="Arial" panose="020B0604020202020204"/>
              </a:rPr>
              <a:t>• Waiver scoping held: Block A's waivers stayed off Block B.</a:t>
            </a:r>
            <a:endParaRPr sz="8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15"/>
              </a:spcAft>
            </a:pPr>
            <a:r>
              <a:rPr sz="850">
                <a:solidFill>
                  <a:srgbClr val="212121"/>
                </a:solidFill>
                <a:latin typeface="Arial" panose="020B0604020202020204"/>
              </a:rPr>
              <a:t>• +5.3 pts utilization bought −7.6% area but +73% slew: a quality trade, now made in the open (default utilization 0.80 → 0.75).</a:t>
            </a:r>
            <a:endParaRPr sz="850">
              <a:solidFill>
                <a:srgbClr val="212121"/>
              </a:solidFill>
              <a:latin typeface="Arial" panose="020B0604020202020204"/>
            </a:endParaRPr>
          </a:p>
        </p:txBody>
      </p:sp>
      <p:cxnSp>
        <p:nvCxnSpPr>
          <p:cNvPr id="13" name="Connector 12"/>
          <p:cNvCxnSpPr/>
          <p:nvPr/>
        </p:nvCxnSpPr>
        <p:spPr>
          <a:xfrm>
            <a:off x="502920" y="4910328"/>
            <a:ext cx="8138160" cy="0"/>
          </a:xfrm>
          <a:prstGeom prst="line">
            <a:avLst/>
          </a:prstGeom>
          <a:ln w="15240">
            <a:solidFill>
              <a:srgbClr val="009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0352" y="4928616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8909C"/>
                </a:solidFill>
                <a:latin typeface="Arial" panose="020B0604020202020204"/>
              </a:rPr>
              <a:t>D15 · MOSAIC-SoC · Chipathon 2026 Layout Review · Block A</a:t>
            </a:r>
            <a:endParaRPr sz="8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046720" y="491947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97A7"/>
                </a:solidFill>
                <a:latin typeface="Arial" panose="020B0604020202020204"/>
              </a:rPr>
              <a:t>16</a:t>
            </a:r>
            <a:endParaRPr sz="900" b="1">
              <a:solidFill>
                <a:srgbClr val="0097A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001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12121"/>
                </a:solidFill>
                <a:latin typeface="Arial" panose="020B0604020202020204"/>
              </a:rPr>
              <a:t>16. Verification &amp; Signoff Checklist</a:t>
            </a:r>
            <a:endParaRPr sz="25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49808"/>
            <a:ext cx="795527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8909C"/>
                </a:solidFill>
                <a:latin typeface="Arial" panose="020B0604020202020204"/>
              </a:rPr>
              <a:t>Required physical-review categories mapped to Block A evidence. PASS means a reproducible artifact, not a plan</a:t>
            </a:r>
            <a:endParaRPr sz="11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89520" y="320040"/>
            <a:ext cx="960120" cy="2926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0" y="320040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97A7"/>
                </a:solidFill>
                <a:latin typeface="Arial" panose="020B0604020202020204"/>
              </a:rPr>
              <a:t>CHECK</a:t>
            </a:r>
            <a:endParaRPr sz="1050" b="1">
              <a:solidFill>
                <a:srgbClr val="0097A7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188720"/>
            <a:ext cx="3977639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1261872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12121"/>
                </a:solidFill>
                <a:latin typeface="Arial" panose="020B0604020202020204"/>
              </a:rPr>
              <a:t>Physical DRC</a:t>
            </a:r>
            <a:endParaRPr sz="11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611880" y="1344168"/>
            <a:ext cx="749808" cy="292608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344168"/>
            <a:ext cx="7498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 panose="020B0604020202020204"/>
              </a:rPr>
              <a:t>PASS</a:t>
            </a:r>
            <a:endParaRPr sz="105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9224" y="1527048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8909C"/>
                </a:solidFill>
                <a:latin typeface="Arial" panose="020B0604020202020204"/>
              </a:rPr>
              <a:t>Magic 0 · KLayout 0 · routing 0 · XOR 0</a:t>
            </a:r>
            <a:endParaRPr sz="80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4663440" y="1188720"/>
            <a:ext cx="3977639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09744" y="1261872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12121"/>
                </a:solidFill>
                <a:latin typeface="Arial" panose="020B0604020202020204"/>
              </a:rPr>
              <a:t>LVS</a:t>
            </a:r>
            <a:endParaRPr sz="11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772400" y="1344168"/>
            <a:ext cx="749808" cy="292608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344168"/>
            <a:ext cx="7498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 panose="020B0604020202020204"/>
              </a:rPr>
              <a:t>PASS</a:t>
            </a:r>
            <a:endParaRPr sz="105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09744" y="1527048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8909C"/>
                </a:solidFill>
                <a:latin typeface="Arial" panose="020B0604020202020204"/>
              </a:rPr>
              <a:t>Netgen "match uniquely"; 0 errors · 0 property fails</a:t>
            </a:r>
            <a:endParaRPr sz="80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2920" y="1901952"/>
            <a:ext cx="3977639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1975104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12121"/>
                </a:solidFill>
                <a:latin typeface="Arial" panose="020B0604020202020204"/>
              </a:rPr>
              <a:t>Antenna</a:t>
            </a:r>
            <a:endParaRPr sz="11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3611880" y="2057400"/>
            <a:ext cx="749808" cy="292608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1880" y="2057400"/>
            <a:ext cx="7498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 panose="020B0604020202020204"/>
              </a:rPr>
              <a:t>PASS</a:t>
            </a:r>
            <a:endParaRPr sz="105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9224" y="2240280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8909C"/>
                </a:solidFill>
                <a:latin typeface="Arial" panose="020B0604020202020204"/>
              </a:rPr>
              <a:t>0 violations</a:t>
            </a:r>
            <a:endParaRPr sz="80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4663440" y="1901952"/>
            <a:ext cx="3977639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9744" y="1975104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12121"/>
                </a:solidFill>
                <a:latin typeface="Arial" panose="020B0604020202020204"/>
              </a:rPr>
              <a:t>Power / IR</a:t>
            </a:r>
            <a:endParaRPr sz="11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772400" y="2057400"/>
            <a:ext cx="749808" cy="292608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0" y="2057400"/>
            <a:ext cx="7498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 panose="020B0604020202020204"/>
              </a:rPr>
              <a:t>PASS</a:t>
            </a:r>
            <a:endParaRPr sz="105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809744" y="2240280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8909C"/>
                </a:solidFill>
                <a:latin typeface="Arial" panose="020B0604020202020204"/>
              </a:rPr>
              <a:t>0 grid violations · 120 µV IR · ~58 mW</a:t>
            </a:r>
            <a:endParaRPr sz="80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02920" y="2615184"/>
            <a:ext cx="3977639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" y="2688336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12121"/>
                </a:solidFill>
                <a:latin typeface="Arial" panose="020B0604020202020204"/>
              </a:rPr>
              <a:t>Timing (STA)</a:t>
            </a:r>
            <a:endParaRPr sz="11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3611880" y="2770632"/>
            <a:ext cx="749808" cy="292608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11880" y="2770632"/>
            <a:ext cx="7498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 panose="020B0604020202020204"/>
              </a:rPr>
              <a:t>PASS</a:t>
            </a:r>
            <a:endParaRPr sz="105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9224" y="2953512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8909C"/>
                </a:solidFill>
                <a:latin typeface="Arial" panose="020B0604020202020204"/>
              </a:rPr>
              <a:t>9/9 corners, setup +20.86 / hold +0.066</a:t>
            </a:r>
            <a:endParaRPr sz="80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663440" y="2615184"/>
            <a:ext cx="3977639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9744" y="2688336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12121"/>
                </a:solidFill>
                <a:latin typeface="Arial" panose="020B0604020202020204"/>
              </a:rPr>
              <a:t>Functional GLS</a:t>
            </a:r>
            <a:endParaRPr sz="11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7772400" y="2770632"/>
            <a:ext cx="749808" cy="292608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0" y="2770632"/>
            <a:ext cx="7498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 panose="020B0604020202020204"/>
              </a:rPr>
              <a:t>PASS</a:t>
            </a:r>
            <a:endParaRPr sz="105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809744" y="2953512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8909C"/>
                </a:solidFill>
                <a:latin typeface="Arial" panose="020B0604020202020204"/>
              </a:rPr>
              <a:t>post-route, EXIT SUCCESS, 12,399 cycles</a:t>
            </a:r>
            <a:endParaRPr sz="80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02920" y="3328415"/>
            <a:ext cx="3977639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" y="3401568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12121"/>
                </a:solidFill>
                <a:latin typeface="Arial" panose="020B0604020202020204"/>
              </a:rPr>
              <a:t>Electrical (slew)</a:t>
            </a:r>
            <a:endParaRPr sz="11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3611880" y="3483863"/>
            <a:ext cx="749808" cy="292608"/>
          </a:xfrm>
          <a:prstGeom prst="roundRect">
            <a:avLst/>
          </a:prstGeom>
          <a:solidFill>
            <a:srgbClr val="B26A00"/>
          </a:solidFill>
          <a:ln w="12700">
            <a:solidFill>
              <a:srgbClr val="B2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11880" y="3483863"/>
            <a:ext cx="7498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 panose="020B0604020202020204"/>
              </a:rPr>
              <a:t>PARTIAL</a:t>
            </a:r>
            <a:endParaRPr sz="105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49224" y="3666744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8909C"/>
                </a:solidFill>
                <a:latin typeface="Arial" panose="020B0604020202020204"/>
              </a:rPr>
              <a:t>591 at ss_125C_4v50 only; TT/FF clean</a:t>
            </a:r>
            <a:endParaRPr sz="80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4663440" y="3328415"/>
            <a:ext cx="3977639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09744" y="3426841"/>
            <a:ext cx="2194560" cy="168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12121"/>
                </a:solidFill>
                <a:latin typeface="Arial" panose="020B0604020202020204"/>
              </a:rPr>
              <a:t>re-harden</a:t>
            </a:r>
            <a:endParaRPr sz="11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7772400" y="3483863"/>
            <a:ext cx="749808" cy="292608"/>
          </a:xfrm>
          <a:prstGeom prst="roundRect">
            <a:avLst/>
          </a:prstGeom>
          <a:solidFill>
            <a:srgbClr val="B26A00"/>
          </a:solidFill>
          <a:ln w="12700">
            <a:solidFill>
              <a:srgbClr val="B2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72400" y="3483863"/>
            <a:ext cx="7498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 panose="020B0604020202020204"/>
              </a:rPr>
              <a:t>PARTIAL</a:t>
            </a:r>
            <a:endParaRPr sz="105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809744" y="3666744"/>
            <a:ext cx="2880360" cy="1225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8909C"/>
                </a:solidFill>
                <a:latin typeface="Arial" panose="020B0604020202020204"/>
              </a:rPr>
              <a:t> re-harden at locked clock</a:t>
            </a:r>
            <a:endParaRPr sz="80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502920" y="4041648"/>
            <a:ext cx="3977639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" y="4114800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12121"/>
                </a:solidFill>
                <a:latin typeface="Arial" panose="020B0604020202020204"/>
              </a:rPr>
              <a:t>Timing-annot. GLS</a:t>
            </a:r>
            <a:endParaRPr sz="11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3611880" y="4197096"/>
            <a:ext cx="749808" cy="292608"/>
          </a:xfrm>
          <a:prstGeom prst="roundRect">
            <a:avLst/>
          </a:prstGeom>
          <a:solidFill>
            <a:srgbClr val="C62828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11880" y="4197096"/>
            <a:ext cx="7498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 panose="020B0604020202020204"/>
              </a:rPr>
              <a:t>OPEN</a:t>
            </a:r>
            <a:endParaRPr sz="105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49224" y="4379976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8909C"/>
                </a:solidFill>
                <a:latin typeface="Arial" panose="020B0604020202020204"/>
              </a:rPr>
              <a:t>GF180 ifnone models; ask organizers</a:t>
            </a:r>
            <a:endParaRPr sz="80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51" name="Rounded Rectangle 50"/>
          <p:cNvSpPr/>
          <p:nvPr/>
        </p:nvSpPr>
        <p:spPr>
          <a:xfrm>
            <a:off x="4663440" y="4041648"/>
            <a:ext cx="3977639" cy="6035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809744" y="4114800"/>
            <a:ext cx="2194560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12121"/>
                </a:solidFill>
                <a:latin typeface="Arial" panose="020B0604020202020204"/>
              </a:rPr>
              <a:t>Tapeout attestation</a:t>
            </a:r>
            <a:endParaRPr sz="11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7772400" y="4197096"/>
            <a:ext cx="749808" cy="292608"/>
          </a:xfrm>
          <a:prstGeom prst="roundRect">
            <a:avLst/>
          </a:prstGeom>
          <a:solidFill>
            <a:srgbClr val="C62828"/>
          </a:solidFill>
          <a:ln w="12700">
            <a:solidFill>
              <a:srgbClr val="C6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0" y="4197096"/>
            <a:ext cx="749808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 panose="020B0604020202020204"/>
              </a:rPr>
              <a:t>OPEN</a:t>
            </a:r>
            <a:endParaRPr sz="105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809744" y="4379976"/>
            <a:ext cx="288036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8909C"/>
                </a:solidFill>
                <a:latin typeface="Arial" panose="020B0604020202020204"/>
              </a:rPr>
              <a:t>PHYSICAL_BUNDLE; tag re-hardened commit</a:t>
            </a:r>
            <a:endParaRPr sz="800" b="0">
              <a:solidFill>
                <a:srgbClr val="78909C"/>
              </a:solidFill>
              <a:latin typeface="Arial" panose="020B0604020202020204"/>
            </a:endParaRPr>
          </a:p>
        </p:txBody>
      </p:sp>
      <p:cxnSp>
        <p:nvCxnSpPr>
          <p:cNvPr id="56" name="Connector 55"/>
          <p:cNvCxnSpPr/>
          <p:nvPr/>
        </p:nvCxnSpPr>
        <p:spPr>
          <a:xfrm>
            <a:off x="502920" y="4910328"/>
            <a:ext cx="8138160" cy="0"/>
          </a:xfrm>
          <a:prstGeom prst="line">
            <a:avLst/>
          </a:prstGeom>
          <a:ln w="15240">
            <a:solidFill>
              <a:srgbClr val="009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530352" y="4928616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8909C"/>
                </a:solidFill>
                <a:latin typeface="Arial" panose="020B0604020202020204"/>
              </a:rPr>
              <a:t>D15 · MOSAIC-SoC · Chipathon 2026 Layout Review · Block A</a:t>
            </a:r>
            <a:endParaRPr sz="8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046720" y="491947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97A7"/>
                </a:solidFill>
                <a:latin typeface="Arial" panose="020B0604020202020204"/>
              </a:rPr>
              <a:t>17</a:t>
            </a:r>
            <a:endParaRPr sz="900" b="1">
              <a:solidFill>
                <a:srgbClr val="0097A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001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12121"/>
                </a:solidFill>
                <a:latin typeface="Arial" panose="020B0604020202020204"/>
              </a:rPr>
              <a:t>17. Re-Review Outcome: GO</a:t>
            </a:r>
            <a:endParaRPr sz="25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49808"/>
            <a:ext cx="795527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8909C"/>
                </a:solidFill>
                <a:latin typeface="Arial" panose="020B0604020202020204"/>
              </a:rPr>
              <a:t>The reviewer returned Go: conditional conditions cleared and the committed signoff run verified, with items open before tapeout</a:t>
            </a:r>
            <a:endParaRPr sz="11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89520" y="320040"/>
            <a:ext cx="960120" cy="2926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0" y="320040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97A7"/>
                </a:solidFill>
                <a:latin typeface="Arial" panose="020B0604020202020204"/>
              </a:rPr>
              <a:t>REVIEW</a:t>
            </a:r>
            <a:endParaRPr sz="1050" b="1">
              <a:solidFill>
                <a:srgbClr val="0097A7"/>
              </a:solidFill>
              <a:latin typeface="Arial" panose="020B0604020202020204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133856"/>
            <a:ext cx="1325880" cy="603504"/>
          </a:xfrm>
          <a:prstGeom prst="roundRect">
            <a:avLst/>
          </a:prstGeom>
          <a:solidFill>
            <a:srgbClr val="2E7D32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33856"/>
            <a:ext cx="132588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Arial" panose="020B0604020202020204"/>
              </a:rPr>
              <a:t>GO</a:t>
            </a:r>
            <a:endParaRPr sz="28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993392" y="1170432"/>
            <a:ext cx="66751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44505A"/>
                </a:solidFill>
                <a:latin typeface="Arial" panose="020B0604020202020204"/>
              </a:rPr>
              <a:t>The reviewer verified the committed signoff run; the main checks pass. Specific closure items remain before tapeout.</a:t>
            </a:r>
            <a:endParaRPr sz="1100" b="0">
              <a:solidFill>
                <a:srgbClr val="44505A"/>
              </a:solidFill>
              <a:latin typeface="Arial" panose="020B0604020202020204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1883664"/>
            <a:ext cx="4041648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011680"/>
            <a:ext cx="371246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2121"/>
                </a:solidFill>
                <a:latin typeface="Arial" panose="020B0604020202020204"/>
              </a:rPr>
              <a:t>What the reviewer confirmed</a:t>
            </a:r>
            <a:endParaRPr sz="12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7512" y="2322576"/>
            <a:ext cx="3703320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40"/>
              </a:spcAft>
            </a:pPr>
            <a:r>
              <a:rPr sz="850">
                <a:solidFill>
                  <a:srgbClr val="212121"/>
                </a:solidFill>
                <a:latin typeface="Arial" panose="020B0604020202020204"/>
              </a:rPr>
              <a:t>• Config consistency resolved; the 22-pin interface matches LVS.</a:t>
            </a:r>
            <a:endParaRPr sz="8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40"/>
              </a:spcAft>
            </a:pPr>
            <a:r>
              <a:rPr sz="850">
                <a:solidFill>
                  <a:srgbClr val="212121"/>
                </a:solidFill>
                <a:latin typeface="Arial" panose="020B0604020202020204"/>
              </a:rPr>
              <a:t>• Post-route functional GLS: EXIT SUCCESS, 12,399 cycles, through the bonded interface only.</a:t>
            </a:r>
            <a:endParaRPr sz="8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40"/>
              </a:spcAft>
            </a:pPr>
            <a:r>
              <a:rPr sz="850">
                <a:solidFill>
                  <a:srgbClr val="212121"/>
                </a:solidFill>
                <a:latin typeface="Arial" panose="020B0604020202020204"/>
              </a:rPr>
              <a:t>• DRC, LVS, XOR, antenna 0; timing clean at 9 corners; no waivers on DRC / LVS / XOR / antenna / PG.</a:t>
            </a:r>
            <a:endParaRPr sz="8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40"/>
              </a:spcAft>
            </a:pPr>
            <a:r>
              <a:rPr sz="850">
                <a:solidFill>
                  <a:srgbClr val="212121"/>
                </a:solidFill>
                <a:latin typeface="Arial" panose="020B0604020202020204"/>
              </a:rPr>
              <a:t>• Two functional bugs the flow exposed (soc_ctrl DMA tie-off, SERV Wishbone tie-off) fixed and regression-covered.</a:t>
            </a:r>
            <a:endParaRPr sz="8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40"/>
              </a:spcAft>
            </a:pPr>
            <a:r>
              <a:rPr sz="850">
                <a:solidFill>
                  <a:srgbClr val="212121"/>
                </a:solidFill>
                <a:latin typeface="Arial" panose="020B0604020202020204"/>
              </a:rPr>
              <a:t>• "Clean DRC / LVS at 84.4% util is solid P&amp;R, not a trade-off."</a:t>
            </a:r>
            <a:endParaRPr sz="850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636008" y="1883664"/>
            <a:ext cx="4041648" cy="2743200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B2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3712463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12121"/>
                </a:solidFill>
                <a:latin typeface="Arial" panose="020B0604020202020204"/>
              </a:rPr>
              <a:t>Gate to tapeout — must close</a:t>
            </a:r>
            <a:endParaRPr sz="12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800600" y="2322576"/>
            <a:ext cx="3703320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20"/>
              </a:spcAft>
            </a:pPr>
            <a:r>
              <a:rPr sz="850">
                <a:solidFill>
                  <a:srgbClr val="212121"/>
                </a:solidFill>
                <a:latin typeface="Arial" panose="020B0604020202020204"/>
              </a:rPr>
              <a:t>• Lock the clock with the track leads + integration now, then re-harden at that period. 25 MHz looks reachable (worst logic ~3.7 ns).</a:t>
            </a:r>
            <a:endParaRPr sz="8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20"/>
              </a:spcAft>
            </a:pPr>
            <a:r>
              <a:rPr sz="850">
                <a:solidFill>
                  <a:srgbClr val="212121"/>
                </a:solidFill>
                <a:latin typeface="Arial" panose="020B0604020202020204"/>
              </a:rPr>
              <a:t>• Close 591 max-slew + 1 fanout — only at ss_125C_4v50; TT and FF corners clean. Per-net driver sizing, not blanket buffers.</a:t>
            </a:r>
            <a:endParaRPr sz="8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20"/>
              </a:spcAft>
            </a:pPr>
            <a:r>
              <a:rPr sz="850">
                <a:solidFill>
                  <a:srgbClr val="212121"/>
                </a:solidFill>
                <a:latin typeface="Arial" panose="020B0604020202020204"/>
              </a:rPr>
              <a:t>• Settle the timing-annotated GLS question with the organizers (GF180 ifnone models vs IEEE 1364).</a:t>
            </a:r>
            <a:endParaRPr sz="850">
              <a:solidFill>
                <a:srgbClr val="212121"/>
              </a:solidFill>
              <a:latin typeface="Arial" panose="020B0604020202020204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720"/>
              </a:spcAft>
            </a:pPr>
            <a:r>
              <a:rPr sz="850">
                <a:solidFill>
                  <a:srgbClr val="212121"/>
                </a:solidFill>
                <a:latin typeface="Arial" panose="020B0604020202020204"/>
              </a:rPr>
              <a:t>• Then tag the re-hardened commit.</a:t>
            </a:r>
            <a:endParaRPr sz="850">
              <a:solidFill>
                <a:srgbClr val="212121"/>
              </a:solidFill>
              <a:latin typeface="Arial" panose="020B0604020202020204"/>
            </a:endParaRPr>
          </a:p>
        </p:txBody>
      </p:sp>
      <p:cxnSp>
        <p:nvCxnSpPr>
          <p:cNvPr id="15" name="Connector 14"/>
          <p:cNvCxnSpPr/>
          <p:nvPr/>
        </p:nvCxnSpPr>
        <p:spPr>
          <a:xfrm>
            <a:off x="502920" y="4910328"/>
            <a:ext cx="8138160" cy="0"/>
          </a:xfrm>
          <a:prstGeom prst="line">
            <a:avLst/>
          </a:prstGeom>
          <a:ln w="15240">
            <a:solidFill>
              <a:srgbClr val="009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30352" y="4928616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8909C"/>
                </a:solidFill>
                <a:latin typeface="Arial" panose="020B0604020202020204"/>
              </a:rPr>
              <a:t>D15 · MOSAIC-SoC · Chipathon 2026 Layout Review · Block A</a:t>
            </a:r>
            <a:endParaRPr sz="8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046720" y="491947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97A7"/>
                </a:solidFill>
                <a:latin typeface="Arial" panose="020B0604020202020204"/>
              </a:rPr>
              <a:t>18</a:t>
            </a:r>
            <a:endParaRPr sz="900" b="1">
              <a:solidFill>
                <a:srgbClr val="0097A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56032"/>
            <a:ext cx="8001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212121"/>
                </a:solidFill>
                <a:latin typeface="Arial" panose="020B0604020202020204"/>
              </a:rPr>
              <a:t>Appendix · Reproduce the Signoff</a:t>
            </a:r>
            <a:endParaRPr sz="25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85216" y="749808"/>
            <a:ext cx="7955279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78909C"/>
                </a:solidFill>
                <a:latin typeface="Arial" panose="020B0604020202020204"/>
              </a:rPr>
              <a:t>Three commands on a fresh clone, and the exact toolchain. LibreLane 3.0.0 Nix-pins every tool below it</a:t>
            </a:r>
            <a:endParaRPr sz="11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589520" y="320040"/>
            <a:ext cx="960120" cy="292608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F4F7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0" y="320040"/>
            <a:ext cx="9601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0097A7"/>
                </a:solidFill>
                <a:latin typeface="Arial" panose="020B0604020202020204"/>
              </a:rPr>
              <a:t>REPRO</a:t>
            </a:r>
            <a:endParaRPr sz="1050" b="1">
              <a:solidFill>
                <a:srgbClr val="0097A7"/>
              </a:solidFill>
              <a:latin typeface="Arial" panose="020B06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1170432"/>
            <a:ext cx="420624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12121"/>
                </a:solidFill>
                <a:latin typeface="Arial" panose="020B0604020202020204"/>
              </a:rPr>
              <a:t>Step by step (from a clean checkout)</a:t>
            </a:r>
            <a:endParaRPr sz="1100" b="1">
              <a:solidFill>
                <a:srgbClr val="212121"/>
              </a:solidFill>
              <a:latin typeface="Arial" panose="020B060402020202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02920" y="1426464"/>
            <a:ext cx="3977639" cy="2788920"/>
          </a:xfrm>
          <a:prstGeom prst="roundRect">
            <a:avLst/>
          </a:prstGeom>
          <a:solidFill>
            <a:srgbClr val="102035"/>
          </a:solidFill>
          <a:ln w="12700">
            <a:solidFill>
              <a:srgbClr val="1020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" y="1536192"/>
            <a:ext cx="3685031" cy="25694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9AA4B2"/>
                </a:solidFill>
                <a:latin typeface="Consolas" panose="020B0609020204030204"/>
              </a:rPr>
              <a:t># 1 · generate the RTL bundle</a:t>
            </a:r>
            <a:endParaRPr sz="850">
              <a:solidFill>
                <a:srgbClr val="9AA4B2"/>
              </a:solidFill>
              <a:latin typeface="Consolas" panose="020B06090202040302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FFFFFF"/>
                </a:solidFill>
                <a:latin typeface="Consolas" panose="020B0609020204030204"/>
              </a:rPr>
              <a:t>make mosaic-gen \</a:t>
            </a:r>
            <a:endParaRPr sz="850">
              <a:solidFill>
                <a:srgbClr val="FFFFFF"/>
              </a:solidFill>
              <a:latin typeface="Consolas" panose="020B06090202040302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FFFFFF"/>
                </a:solidFill>
                <a:latin typeface="Consolas" panose="020B0609020204030204"/>
              </a:rPr>
              <a:t>  MOSAIC_CFG=configs/\</a:t>
            </a:r>
            <a:endParaRPr sz="850">
              <a:solidFill>
                <a:srgbClr val="FFFFFF"/>
              </a:solidFill>
              <a:latin typeface="Consolas" panose="020B06090202040302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FFFFFF"/>
                </a:solidFill>
                <a:latin typeface="Consolas" panose="020B0609020204030204"/>
              </a:rPr>
              <a:t>  mosaic_tapeout_ultra.yaml</a:t>
            </a:r>
            <a:endParaRPr sz="850">
              <a:solidFill>
                <a:srgbClr val="FFFFFF"/>
              </a:solidFill>
              <a:latin typeface="Consolas" panose="020B06090202040302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9AA4B2"/>
                </a:solidFill>
                <a:latin typeface="Consolas" panose="020B0609020204030204"/>
              </a:rPr>
              <a:t># 2 · functional check (both harts)</a:t>
            </a:r>
            <a:endParaRPr sz="850">
              <a:solidFill>
                <a:srgbClr val="9AA4B2"/>
              </a:solidFill>
              <a:latin typeface="Consolas" panose="020B06090202040302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FFFFFF"/>
                </a:solidFill>
                <a:latin typeface="Consolas" panose="020B0609020204030204"/>
              </a:rPr>
              <a:t>MOSAIC_CFG=configs/mosaic_tapeout_\</a:t>
            </a:r>
            <a:endParaRPr sz="850">
              <a:solidFill>
                <a:srgbClr val="FFFFFF"/>
              </a:solidFill>
              <a:latin typeface="Consolas" panose="020B06090202040302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FFFFFF"/>
                </a:solidFill>
                <a:latin typeface="Consolas" panose="020B0609020204030204"/>
              </a:rPr>
              <a:t>  ultra.yaml \</a:t>
            </a:r>
            <a:endParaRPr sz="850">
              <a:solidFill>
                <a:srgbClr val="FFFFFF"/>
              </a:solidFill>
              <a:latin typeface="Consolas" panose="020B06090202040302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FFFFFF"/>
                </a:solidFill>
                <a:latin typeface="Consolas" panose="020B0609020204030204"/>
              </a:rPr>
              <a:t>  bash tb/mosaic_soc/run_generic.sh</a:t>
            </a:r>
            <a:endParaRPr sz="850">
              <a:solidFill>
                <a:srgbClr val="FFFFFF"/>
              </a:solidFill>
              <a:latin typeface="Consolas" panose="020B06090202040302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6ED08A"/>
                </a:solidFill>
                <a:latin typeface="Consolas" panose="020B0609020204030204"/>
              </a:rPr>
              <a:t>#  -&gt; EXIT SUCCESS</a:t>
            </a:r>
            <a:endParaRPr sz="850">
              <a:solidFill>
                <a:srgbClr val="6ED08A"/>
              </a:solidFill>
              <a:latin typeface="Consolas" panose="020B06090202040302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9AA4B2"/>
                </a:solidFill>
                <a:latin typeface="Consolas" panose="020B0609020204030204"/>
              </a:rPr>
              <a:t># 3 · harden + full signoff (hours)</a:t>
            </a:r>
            <a:endParaRPr sz="850">
              <a:solidFill>
                <a:srgbClr val="9AA4B2"/>
              </a:solidFill>
              <a:latin typeface="Consolas" panose="020B06090202040302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FFFFFF"/>
                </a:solidFill>
                <a:latin typeface="Consolas" panose="020B0609020204030204"/>
              </a:rPr>
              <a:t>cd flow/librelane &amp;&amp; \</a:t>
            </a:r>
            <a:endParaRPr sz="850">
              <a:solidFill>
                <a:srgbClr val="FFFFFF"/>
              </a:solidFill>
              <a:latin typeface="Consolas" panose="020B06090202040302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FFFFFF"/>
                </a:solidFill>
                <a:latin typeface="Consolas" panose="020B0609020204030204"/>
              </a:rPr>
              <a:t>  ./experimental/run_signoff.sh</a:t>
            </a:r>
            <a:endParaRPr sz="850">
              <a:solidFill>
                <a:srgbClr val="FFFFFF"/>
              </a:solidFill>
              <a:latin typeface="Consolas" panose="020B0609020204030204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>
                <a:solidFill>
                  <a:srgbClr val="6ED08A"/>
                </a:solidFill>
                <a:latin typeface="Consolas" panose="020B0609020204030204"/>
              </a:rPr>
              <a:t>#  -&gt; DRC/LVS/XOR/antenna = 0</a:t>
            </a:r>
            <a:endParaRPr sz="850">
              <a:solidFill>
                <a:srgbClr val="6ED08A"/>
              </a:solidFill>
              <a:latin typeface="Consolas" panose="020B060902020403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709160" y="1170432"/>
            <a:ext cx="3931920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12121"/>
                </a:solidFill>
                <a:latin typeface="Arial" panose="020B0604020202020204"/>
              </a:rPr>
              <a:t>Tools &amp; PDK (pinned)</a:t>
            </a:r>
            <a:endParaRPr sz="1100" b="1">
              <a:solidFill>
                <a:srgbClr val="212121"/>
              </a:solidFill>
              <a:latin typeface="Arial" panose="020B0604020202020204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709160" y="1426464"/>
          <a:ext cx="3968496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1640"/>
                <a:gridCol w="2276856"/>
              </a:tblGrid>
              <a:tr h="2514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Component</a:t>
                      </a:r>
                      <a:endParaRPr sz="9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44505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Arial" panose="020B0604020202020204"/>
                        </a:rPr>
                        <a:t>Version</a:t>
                      </a:r>
                      <a:endParaRPr sz="900" b="1">
                        <a:solidFill>
                          <a:srgbClr val="FFFFFF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44505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LibreLane (flow)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3.0.0 · Nix-pinned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Yosys (synthesis)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0.62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OpenROAD (P&amp;R, STA)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pinned by LibreLane 3.0.0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Magic (DRC, extract)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8.3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KLayout (DRC, XOR)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pinned by LibreLane 3.0.0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Netgen (LVS)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1.5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Verilator (sim)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5.044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PDK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gf180mcuD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4F7FA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Std cells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212121"/>
                          </a:solidFill>
                          <a:latin typeface="Arial" panose="020B0604020202020204"/>
                        </a:rPr>
                        <a:t>gf180mcu_fd_sc_mcu7t5v0 (7T, 5 V)</a:t>
                      </a:r>
                      <a:endParaRPr sz="850" b="0">
                        <a:solidFill>
                          <a:srgbClr val="212121"/>
                        </a:solidFill>
                        <a:latin typeface="Arial" panose="020B0604020202020204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4709160" y="4023360"/>
            <a:ext cx="3968496" cy="621792"/>
          </a:xfrm>
          <a:prstGeom prst="roundRect">
            <a:avLst/>
          </a:prstGeom>
          <a:solidFill>
            <a:srgbClr val="F4F7FA"/>
          </a:solidFill>
          <a:ln w="12700">
            <a:solidFill>
              <a:srgbClr val="D9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4608" y="4114800"/>
            <a:ext cx="3657600" cy="130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44505A"/>
                </a:solidFill>
                <a:latin typeface="Arial" panose="020B0604020202020204"/>
              </a:rPr>
              <a:t>Reproduces the re-hardened result, a byte copy of the exact GDS on slide 6.</a:t>
            </a:r>
            <a:endParaRPr sz="850" b="0">
              <a:solidFill>
                <a:srgbClr val="44505A"/>
              </a:solidFill>
              <a:latin typeface="Arial" panose="020B0604020202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02920" y="4343400"/>
            <a:ext cx="40233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78909C"/>
                </a:solidFill>
                <a:latin typeface="Arial" panose="020B0604020202020204"/>
              </a:rPr>
              <a:t>The checked-in LibreLane configs carry no absolute paths; gen_filelist.py resolves the source list from the FuseSoC manifest at run time.</a:t>
            </a:r>
            <a:endParaRPr sz="800" b="0">
              <a:solidFill>
                <a:srgbClr val="78909C"/>
              </a:solidFill>
              <a:latin typeface="Arial" panose="020B0604020202020204"/>
            </a:endParaRPr>
          </a:p>
        </p:txBody>
      </p:sp>
      <p:cxnSp>
        <p:nvCxnSpPr>
          <p:cNvPr id="14" name="Connector 13"/>
          <p:cNvCxnSpPr/>
          <p:nvPr/>
        </p:nvCxnSpPr>
        <p:spPr>
          <a:xfrm>
            <a:off x="502920" y="4910328"/>
            <a:ext cx="8138160" cy="0"/>
          </a:xfrm>
          <a:prstGeom prst="line">
            <a:avLst/>
          </a:prstGeom>
          <a:ln w="15240">
            <a:solidFill>
              <a:srgbClr val="0097A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30352" y="4928616"/>
            <a:ext cx="7132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78909C"/>
                </a:solidFill>
                <a:latin typeface="Arial" panose="020B0604020202020204"/>
              </a:rPr>
              <a:t>D15 · MOSAIC-SoC · Chipathon 2026 Layout Review · Block A</a:t>
            </a:r>
            <a:endParaRPr sz="850" b="0">
              <a:solidFill>
                <a:srgbClr val="78909C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046720" y="4919472"/>
            <a:ext cx="5029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97A7"/>
                </a:solidFill>
                <a:latin typeface="Arial" panose="020B0604020202020204"/>
              </a:rPr>
              <a:t>19</a:t>
            </a:r>
            <a:endParaRPr sz="900" b="1">
              <a:solidFill>
                <a:srgbClr val="0097A7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17085</Words>
  <Application>WPS Presentation</Application>
  <PresentationFormat/>
  <Paragraphs>896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8" baseType="lpstr">
      <vt:lpstr>Arial</vt:lpstr>
      <vt:lpstr>SimSun</vt:lpstr>
      <vt:lpstr>Wingdings</vt:lpstr>
      <vt:lpstr>Arial</vt:lpstr>
      <vt:lpstr>Microsoft YaHei</vt:lpstr>
      <vt:lpstr>思源黑体 CN</vt:lpstr>
      <vt:lpstr>Arial Unicode MS</vt:lpstr>
      <vt:lpstr>Consolas</vt:lpstr>
      <vt:lpstr>Simple Light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syntax</cp:lastModifiedBy>
  <cp:revision>7</cp:revision>
  <dcterms:created xsi:type="dcterms:W3CDTF">2026-08-10T21:42:40Z</dcterms:created>
  <dcterms:modified xsi:type="dcterms:W3CDTF">2026-08-10T21:42:40Z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